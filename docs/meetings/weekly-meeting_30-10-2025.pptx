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8927C888-134C-415F-AD2C-70A9D2704B29}">
          <p14:sldIdLst>
            <p14:sldId id="256"/>
            <p14:sldId id="257"/>
            <p14:sldId id="258"/>
            <p14:sldId id="259"/>
            <p14:sldId id="260"/>
            <p14:sldId id="261"/>
            <p14:sldId id="262"/>
            <p14:sldId id="263"/>
            <p14:sldId id="264"/>
            <p14:sldId id="265"/>
            <p14:sldId id="26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FE09AAC-166D-47CE-BCE2-BBDD9E52C42B}" v="3" dt="2025-10-30T07:16:39.32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79" autoAdjust="0"/>
    <p:restoredTop sz="94660"/>
  </p:normalViewPr>
  <p:slideViewPr>
    <p:cSldViewPr snapToGrid="0">
      <p:cViewPr varScale="1">
        <p:scale>
          <a:sx n="111" d="100"/>
          <a:sy n="111" d="100"/>
        </p:scale>
        <p:origin x="594"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microsoft.com/office/2016/11/relationships/changesInfo" Target="changesInfos/changesInfo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19"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inh Khôi Võ Tấn" userId="df010977c1c328cb" providerId="LiveId" clId="{021737E1-13EE-495B-A898-B29314BB33F8}"/>
    <pc:docChg chg="undo custSel addSld modSld modSection">
      <pc:chgData name="Minh Khôi Võ Tấn" userId="df010977c1c328cb" providerId="LiveId" clId="{021737E1-13EE-495B-A898-B29314BB33F8}" dt="2025-10-30T07:17:09.281" v="35" actId="20577"/>
      <pc:docMkLst>
        <pc:docMk/>
      </pc:docMkLst>
      <pc:sldChg chg="modSp mod">
        <pc:chgData name="Minh Khôi Võ Tấn" userId="df010977c1c328cb" providerId="LiveId" clId="{021737E1-13EE-495B-A898-B29314BB33F8}" dt="2025-10-30T07:17:09.281" v="35" actId="20577"/>
        <pc:sldMkLst>
          <pc:docMk/>
          <pc:sldMk cId="3944462662" sldId="256"/>
        </pc:sldMkLst>
        <pc:spChg chg="mod">
          <ac:chgData name="Minh Khôi Võ Tấn" userId="df010977c1c328cb" providerId="LiveId" clId="{021737E1-13EE-495B-A898-B29314BB33F8}" dt="2025-10-30T07:17:09.281" v="35" actId="20577"/>
          <ac:spMkLst>
            <pc:docMk/>
            <pc:sldMk cId="3944462662" sldId="256"/>
            <ac:spMk id="2" creationId="{9788C130-FAB7-3278-D1B1-D087BA9E3038}"/>
          </ac:spMkLst>
        </pc:spChg>
        <pc:picChg chg="mod">
          <ac:chgData name="Minh Khôi Võ Tấn" userId="df010977c1c328cb" providerId="LiveId" clId="{021737E1-13EE-495B-A898-B29314BB33F8}" dt="2025-10-30T06:38:13.263" v="0" actId="1076"/>
          <ac:picMkLst>
            <pc:docMk/>
            <pc:sldMk cId="3944462662" sldId="256"/>
            <ac:picMk id="7" creationId="{CDAC0004-C9AB-6AFF-5EB0-5F9143B68893}"/>
          </ac:picMkLst>
        </pc:picChg>
      </pc:sldChg>
      <pc:sldChg chg="modSp mod">
        <pc:chgData name="Minh Khôi Võ Tấn" userId="df010977c1c328cb" providerId="LiveId" clId="{021737E1-13EE-495B-A898-B29314BB33F8}" dt="2025-10-30T07:11:29.821" v="15" actId="14100"/>
        <pc:sldMkLst>
          <pc:docMk/>
          <pc:sldMk cId="2187045928" sldId="258"/>
        </pc:sldMkLst>
        <pc:spChg chg="mod">
          <ac:chgData name="Minh Khôi Võ Tấn" userId="df010977c1c328cb" providerId="LiveId" clId="{021737E1-13EE-495B-A898-B29314BB33F8}" dt="2025-10-30T07:11:29.821" v="15" actId="14100"/>
          <ac:spMkLst>
            <pc:docMk/>
            <pc:sldMk cId="2187045928" sldId="258"/>
            <ac:spMk id="3" creationId="{AC3E6484-69E8-54C1-23B9-D6FCB37AC4A6}"/>
          </ac:spMkLst>
        </pc:spChg>
      </pc:sldChg>
      <pc:sldChg chg="addSp delSp modSp mod">
        <pc:chgData name="Minh Khôi Võ Tấn" userId="df010977c1c328cb" providerId="LiveId" clId="{021737E1-13EE-495B-A898-B29314BB33F8}" dt="2025-10-30T06:40:57.634" v="7" actId="1076"/>
        <pc:sldMkLst>
          <pc:docMk/>
          <pc:sldMk cId="3739199645" sldId="260"/>
        </pc:sldMkLst>
        <pc:picChg chg="del">
          <ac:chgData name="Minh Khôi Võ Tấn" userId="df010977c1c328cb" providerId="LiveId" clId="{021737E1-13EE-495B-A898-B29314BB33F8}" dt="2025-10-30T06:40:47.066" v="1" actId="478"/>
          <ac:picMkLst>
            <pc:docMk/>
            <pc:sldMk cId="3739199645" sldId="260"/>
            <ac:picMk id="7" creationId="{61C7E16E-5F09-EACC-9004-99E2DF3688BA}"/>
          </ac:picMkLst>
        </pc:picChg>
        <pc:picChg chg="add mod">
          <ac:chgData name="Minh Khôi Võ Tấn" userId="df010977c1c328cb" providerId="LiveId" clId="{021737E1-13EE-495B-A898-B29314BB33F8}" dt="2025-10-30T06:40:57.634" v="7" actId="1076"/>
          <ac:picMkLst>
            <pc:docMk/>
            <pc:sldMk cId="3739199645" sldId="260"/>
            <ac:picMk id="8" creationId="{DE5C3FE2-327D-57F2-F9B9-4C843C32F88C}"/>
          </ac:picMkLst>
        </pc:picChg>
        <pc:picChg chg="del">
          <ac:chgData name="Minh Khôi Võ Tấn" userId="df010977c1c328cb" providerId="LiveId" clId="{021737E1-13EE-495B-A898-B29314BB33F8}" dt="2025-10-30T06:40:55.141" v="6" actId="478"/>
          <ac:picMkLst>
            <pc:docMk/>
            <pc:sldMk cId="3739199645" sldId="260"/>
            <ac:picMk id="9" creationId="{21947F60-EA91-F87E-739D-BAAE87A1F5EC}"/>
          </ac:picMkLst>
        </pc:picChg>
      </pc:sldChg>
      <pc:sldChg chg="modSp mod">
        <pc:chgData name="Minh Khôi Võ Tấn" userId="df010977c1c328cb" providerId="LiveId" clId="{021737E1-13EE-495B-A898-B29314BB33F8}" dt="2025-10-30T06:55:37.040" v="14" actId="14100"/>
        <pc:sldMkLst>
          <pc:docMk/>
          <pc:sldMk cId="354687995" sldId="262"/>
        </pc:sldMkLst>
        <pc:picChg chg="mod">
          <ac:chgData name="Minh Khôi Võ Tấn" userId="df010977c1c328cb" providerId="LiveId" clId="{021737E1-13EE-495B-A898-B29314BB33F8}" dt="2025-10-30T06:55:37.040" v="14" actId="14100"/>
          <ac:picMkLst>
            <pc:docMk/>
            <pc:sldMk cId="354687995" sldId="262"/>
            <ac:picMk id="8" creationId="{23808E71-D26A-8DB6-F145-47CAAD9C0AFF}"/>
          </ac:picMkLst>
        </pc:picChg>
      </pc:sldChg>
      <pc:sldChg chg="modSp new mod">
        <pc:chgData name="Minh Khôi Võ Tấn" userId="df010977c1c328cb" providerId="LiveId" clId="{021737E1-13EE-495B-A898-B29314BB33F8}" dt="2025-10-30T07:16:43.409" v="25" actId="2711"/>
        <pc:sldMkLst>
          <pc:docMk/>
          <pc:sldMk cId="103073486" sldId="266"/>
        </pc:sldMkLst>
        <pc:spChg chg="mod">
          <ac:chgData name="Minh Khôi Võ Tấn" userId="df010977c1c328cb" providerId="LiveId" clId="{021737E1-13EE-495B-A898-B29314BB33F8}" dt="2025-10-30T07:16:43.409" v="25" actId="2711"/>
          <ac:spMkLst>
            <pc:docMk/>
            <pc:sldMk cId="103073486" sldId="266"/>
            <ac:spMk id="2" creationId="{D69632C1-F591-261B-26D2-0795D793B7F7}"/>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4088E23-6B0B-4308-A2C3-03BB04CE1B56}" type="datetimeFigureOut">
              <a:rPr lang="en-US" smtClean="0"/>
              <a:t>10/30/2025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84FB04C-44F8-4F5F-80E8-63EAE06CAE5F}" type="slidenum">
              <a:rPr lang="en-US" smtClean="0"/>
              <a:t>‹#›</a:t>
            </a:fld>
            <a:endParaRPr lang="en-US"/>
          </a:p>
        </p:txBody>
      </p:sp>
    </p:spTree>
    <p:extLst>
      <p:ext uri="{BB962C8B-B14F-4D97-AF65-F5344CB8AC3E}">
        <p14:creationId xmlns:p14="http://schemas.microsoft.com/office/powerpoint/2010/main" val="160597914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FEB2E6-BD5D-13E0-5786-39E433F6C51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40FD11C7-A746-82B4-4AB5-3EA0FB46700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C84CA972-D17E-3B6F-1D51-C35B00BE9639}"/>
              </a:ext>
            </a:extLst>
          </p:cNvPr>
          <p:cNvSpPr>
            <a:spLocks noGrp="1"/>
          </p:cNvSpPr>
          <p:nvPr>
            <p:ph type="dt" sz="half" idx="10"/>
          </p:nvPr>
        </p:nvSpPr>
        <p:spPr/>
        <p:txBody>
          <a:bodyPr/>
          <a:lstStyle/>
          <a:p>
            <a:fld id="{9A2E3DE4-4558-4141-B74D-6A52FA8EEA94}" type="datetime1">
              <a:rPr lang="vi-VN" smtClean="0"/>
              <a:t>30/10/2025</a:t>
            </a:fld>
            <a:endParaRPr lang="en-US"/>
          </a:p>
        </p:txBody>
      </p:sp>
      <p:sp>
        <p:nvSpPr>
          <p:cNvPr id="5" name="Footer Placeholder 4">
            <a:extLst>
              <a:ext uri="{FF2B5EF4-FFF2-40B4-BE49-F238E27FC236}">
                <a16:creationId xmlns:a16="http://schemas.microsoft.com/office/drawing/2014/main" id="{BB2BE2F8-DA5B-4B9A-E9B0-F3C75348832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745DE63-53EC-B8CC-763A-02854576DC19}"/>
              </a:ext>
            </a:extLst>
          </p:cNvPr>
          <p:cNvSpPr>
            <a:spLocks noGrp="1"/>
          </p:cNvSpPr>
          <p:nvPr>
            <p:ph type="sldNum" sz="quarter" idx="12"/>
          </p:nvPr>
        </p:nvSpPr>
        <p:spPr/>
        <p:txBody>
          <a:bodyPr/>
          <a:lstStyle/>
          <a:p>
            <a:fld id="{18465823-24DD-4389-90AD-EB96B0370D37}" type="slidenum">
              <a:rPr lang="en-US" smtClean="0"/>
              <a:t>‹#›</a:t>
            </a:fld>
            <a:endParaRPr lang="en-US"/>
          </a:p>
        </p:txBody>
      </p:sp>
    </p:spTree>
    <p:extLst>
      <p:ext uri="{BB962C8B-B14F-4D97-AF65-F5344CB8AC3E}">
        <p14:creationId xmlns:p14="http://schemas.microsoft.com/office/powerpoint/2010/main" val="133747782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B0918F-D231-E75D-CCF3-5D5D5632AD2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419E93B-DD11-5B3B-8187-78849F37D27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5AF4586-AE70-F9F5-323B-1987A45758AD}"/>
              </a:ext>
            </a:extLst>
          </p:cNvPr>
          <p:cNvSpPr>
            <a:spLocks noGrp="1"/>
          </p:cNvSpPr>
          <p:nvPr>
            <p:ph type="dt" sz="half" idx="10"/>
          </p:nvPr>
        </p:nvSpPr>
        <p:spPr/>
        <p:txBody>
          <a:bodyPr/>
          <a:lstStyle/>
          <a:p>
            <a:fld id="{DFDA44C5-FF49-4031-A1FF-6DFDFE7830D3}" type="datetime1">
              <a:rPr lang="vi-VN" smtClean="0"/>
              <a:t>30/10/2025</a:t>
            </a:fld>
            <a:endParaRPr lang="en-US"/>
          </a:p>
        </p:txBody>
      </p:sp>
      <p:sp>
        <p:nvSpPr>
          <p:cNvPr id="5" name="Footer Placeholder 4">
            <a:extLst>
              <a:ext uri="{FF2B5EF4-FFF2-40B4-BE49-F238E27FC236}">
                <a16:creationId xmlns:a16="http://schemas.microsoft.com/office/drawing/2014/main" id="{375EF259-2396-A321-252E-E478E375B8B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6080A67-4314-937B-9C2B-829A7CD600FD}"/>
              </a:ext>
            </a:extLst>
          </p:cNvPr>
          <p:cNvSpPr>
            <a:spLocks noGrp="1"/>
          </p:cNvSpPr>
          <p:nvPr>
            <p:ph type="sldNum" sz="quarter" idx="12"/>
          </p:nvPr>
        </p:nvSpPr>
        <p:spPr/>
        <p:txBody>
          <a:bodyPr/>
          <a:lstStyle/>
          <a:p>
            <a:fld id="{18465823-24DD-4389-90AD-EB96B0370D37}" type="slidenum">
              <a:rPr lang="en-US" smtClean="0"/>
              <a:t>‹#›</a:t>
            </a:fld>
            <a:endParaRPr lang="en-US"/>
          </a:p>
        </p:txBody>
      </p:sp>
    </p:spTree>
    <p:extLst>
      <p:ext uri="{BB962C8B-B14F-4D97-AF65-F5344CB8AC3E}">
        <p14:creationId xmlns:p14="http://schemas.microsoft.com/office/powerpoint/2010/main" val="331835982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AFE7CD-4213-BB3A-D14E-B9862F32418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76231681-1F53-EE8C-0E17-10CC96BD74E6}"/>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C537004-AE89-2428-F52F-1AAD58D20E5D}"/>
              </a:ext>
            </a:extLst>
          </p:cNvPr>
          <p:cNvSpPr>
            <a:spLocks noGrp="1"/>
          </p:cNvSpPr>
          <p:nvPr>
            <p:ph type="dt" sz="half" idx="10"/>
          </p:nvPr>
        </p:nvSpPr>
        <p:spPr/>
        <p:txBody>
          <a:bodyPr/>
          <a:lstStyle/>
          <a:p>
            <a:fld id="{0EE34FD0-DA0A-4E51-AB0D-D3233A87CBD8}" type="datetime1">
              <a:rPr lang="vi-VN" smtClean="0"/>
              <a:t>30/10/2025</a:t>
            </a:fld>
            <a:endParaRPr lang="en-US"/>
          </a:p>
        </p:txBody>
      </p:sp>
      <p:sp>
        <p:nvSpPr>
          <p:cNvPr id="5" name="Footer Placeholder 4">
            <a:extLst>
              <a:ext uri="{FF2B5EF4-FFF2-40B4-BE49-F238E27FC236}">
                <a16:creationId xmlns:a16="http://schemas.microsoft.com/office/drawing/2014/main" id="{B7EF4247-A47E-799D-4C25-C7AA3E18FA2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D975364-8C20-5586-2F0F-57FC256370D9}"/>
              </a:ext>
            </a:extLst>
          </p:cNvPr>
          <p:cNvSpPr>
            <a:spLocks noGrp="1"/>
          </p:cNvSpPr>
          <p:nvPr>
            <p:ph type="sldNum" sz="quarter" idx="12"/>
          </p:nvPr>
        </p:nvSpPr>
        <p:spPr/>
        <p:txBody>
          <a:bodyPr/>
          <a:lstStyle/>
          <a:p>
            <a:fld id="{18465823-24DD-4389-90AD-EB96B0370D37}" type="slidenum">
              <a:rPr lang="en-US" smtClean="0"/>
              <a:t>‹#›</a:t>
            </a:fld>
            <a:endParaRPr lang="en-US"/>
          </a:p>
        </p:txBody>
      </p:sp>
    </p:spTree>
    <p:extLst>
      <p:ext uri="{BB962C8B-B14F-4D97-AF65-F5344CB8AC3E}">
        <p14:creationId xmlns:p14="http://schemas.microsoft.com/office/powerpoint/2010/main" val="16112918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23E55F-64B2-14EB-7C80-F7EF92B4CD9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D62C80D-DCD4-0711-9A9E-8B3A86B4262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832CCF5-D60A-CD5B-985D-3A8AE50FBFA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C0D5955F-E218-2519-51D9-005D953D6723}"/>
              </a:ext>
            </a:extLst>
          </p:cNvPr>
          <p:cNvSpPr>
            <a:spLocks noGrp="1"/>
          </p:cNvSpPr>
          <p:nvPr>
            <p:ph type="dt" sz="half" idx="10"/>
          </p:nvPr>
        </p:nvSpPr>
        <p:spPr/>
        <p:txBody>
          <a:bodyPr/>
          <a:lstStyle/>
          <a:p>
            <a:fld id="{270C87B6-217B-4969-98BC-36956AB1925F}" type="datetime1">
              <a:rPr lang="vi-VN" smtClean="0"/>
              <a:t>30/10/2025</a:t>
            </a:fld>
            <a:endParaRPr lang="en-US"/>
          </a:p>
        </p:txBody>
      </p:sp>
      <p:sp>
        <p:nvSpPr>
          <p:cNvPr id="6" name="Footer Placeholder 5">
            <a:extLst>
              <a:ext uri="{FF2B5EF4-FFF2-40B4-BE49-F238E27FC236}">
                <a16:creationId xmlns:a16="http://schemas.microsoft.com/office/drawing/2014/main" id="{7A5A69ED-EBA8-4EC6-046A-26AE47615C9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9BD2393-C611-219E-4605-9DB09FEC509D}"/>
              </a:ext>
            </a:extLst>
          </p:cNvPr>
          <p:cNvSpPr>
            <a:spLocks noGrp="1"/>
          </p:cNvSpPr>
          <p:nvPr>
            <p:ph type="sldNum" sz="quarter" idx="12"/>
          </p:nvPr>
        </p:nvSpPr>
        <p:spPr/>
        <p:txBody>
          <a:bodyPr/>
          <a:lstStyle/>
          <a:p>
            <a:fld id="{18465823-24DD-4389-90AD-EB96B0370D37}" type="slidenum">
              <a:rPr lang="en-US" smtClean="0"/>
              <a:t>‹#›</a:t>
            </a:fld>
            <a:endParaRPr lang="en-US"/>
          </a:p>
        </p:txBody>
      </p:sp>
    </p:spTree>
    <p:extLst>
      <p:ext uri="{BB962C8B-B14F-4D97-AF65-F5344CB8AC3E}">
        <p14:creationId xmlns:p14="http://schemas.microsoft.com/office/powerpoint/2010/main" val="405890507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53F535-E8E8-AF0C-641A-BBAAB3E93C5E}"/>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72F38191-C1C8-B3D8-97F4-2B9D1B69C0C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C8D825A-8DE0-6C36-3DCA-25AA60E64DF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A1DCD042-1DD0-A01B-48F3-670BDC8F08D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BACBE8B-B8A3-4665-2FB5-29C13FD9692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F8627CCF-C471-7BDE-5C07-C184CAAB85CE}"/>
              </a:ext>
            </a:extLst>
          </p:cNvPr>
          <p:cNvSpPr>
            <a:spLocks noGrp="1"/>
          </p:cNvSpPr>
          <p:nvPr>
            <p:ph type="dt" sz="half" idx="10"/>
          </p:nvPr>
        </p:nvSpPr>
        <p:spPr/>
        <p:txBody>
          <a:bodyPr/>
          <a:lstStyle/>
          <a:p>
            <a:fld id="{0F827AD8-3334-479F-BAFA-A093B7532044}" type="datetime1">
              <a:rPr lang="vi-VN" smtClean="0"/>
              <a:t>30/10/2025</a:t>
            </a:fld>
            <a:endParaRPr lang="en-US"/>
          </a:p>
        </p:txBody>
      </p:sp>
      <p:sp>
        <p:nvSpPr>
          <p:cNvPr id="8" name="Footer Placeholder 7">
            <a:extLst>
              <a:ext uri="{FF2B5EF4-FFF2-40B4-BE49-F238E27FC236}">
                <a16:creationId xmlns:a16="http://schemas.microsoft.com/office/drawing/2014/main" id="{54E8CF16-7D61-EE97-9186-038CF658B1BF}"/>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9E05CC3-4FD9-0F9F-0FE2-87ECCF417AA1}"/>
              </a:ext>
            </a:extLst>
          </p:cNvPr>
          <p:cNvSpPr>
            <a:spLocks noGrp="1"/>
          </p:cNvSpPr>
          <p:nvPr>
            <p:ph type="sldNum" sz="quarter" idx="12"/>
          </p:nvPr>
        </p:nvSpPr>
        <p:spPr/>
        <p:txBody>
          <a:bodyPr/>
          <a:lstStyle/>
          <a:p>
            <a:fld id="{18465823-24DD-4389-90AD-EB96B0370D37}" type="slidenum">
              <a:rPr lang="en-US" smtClean="0"/>
              <a:t>‹#›</a:t>
            </a:fld>
            <a:endParaRPr lang="en-US"/>
          </a:p>
        </p:txBody>
      </p:sp>
    </p:spTree>
    <p:extLst>
      <p:ext uri="{BB962C8B-B14F-4D97-AF65-F5344CB8AC3E}">
        <p14:creationId xmlns:p14="http://schemas.microsoft.com/office/powerpoint/2010/main" val="35562660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AAF0AF-2C2E-0DAA-522F-8A539CCE972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172B538C-89A1-F98D-3388-2A1755D850F0}"/>
              </a:ext>
            </a:extLst>
          </p:cNvPr>
          <p:cNvSpPr>
            <a:spLocks noGrp="1"/>
          </p:cNvSpPr>
          <p:nvPr>
            <p:ph type="dt" sz="half" idx="10"/>
          </p:nvPr>
        </p:nvSpPr>
        <p:spPr/>
        <p:txBody>
          <a:bodyPr/>
          <a:lstStyle/>
          <a:p>
            <a:fld id="{8AC1144F-119F-42B1-90B9-57F184726D5C}" type="datetime1">
              <a:rPr lang="vi-VN" smtClean="0"/>
              <a:t>30/10/2025</a:t>
            </a:fld>
            <a:endParaRPr lang="en-US"/>
          </a:p>
        </p:txBody>
      </p:sp>
      <p:sp>
        <p:nvSpPr>
          <p:cNvPr id="4" name="Footer Placeholder 3">
            <a:extLst>
              <a:ext uri="{FF2B5EF4-FFF2-40B4-BE49-F238E27FC236}">
                <a16:creationId xmlns:a16="http://schemas.microsoft.com/office/drawing/2014/main" id="{5A4F89BC-47F7-71BF-9232-D11D26B2A42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006EFBD2-02C8-DC47-1BF8-B404A6BBD293}"/>
              </a:ext>
            </a:extLst>
          </p:cNvPr>
          <p:cNvSpPr>
            <a:spLocks noGrp="1"/>
          </p:cNvSpPr>
          <p:nvPr>
            <p:ph type="sldNum" sz="quarter" idx="12"/>
          </p:nvPr>
        </p:nvSpPr>
        <p:spPr/>
        <p:txBody>
          <a:bodyPr/>
          <a:lstStyle/>
          <a:p>
            <a:fld id="{18465823-24DD-4389-90AD-EB96B0370D37}" type="slidenum">
              <a:rPr lang="en-US" smtClean="0"/>
              <a:t>‹#›</a:t>
            </a:fld>
            <a:endParaRPr lang="en-US"/>
          </a:p>
        </p:txBody>
      </p:sp>
    </p:spTree>
    <p:extLst>
      <p:ext uri="{BB962C8B-B14F-4D97-AF65-F5344CB8AC3E}">
        <p14:creationId xmlns:p14="http://schemas.microsoft.com/office/powerpoint/2010/main" val="90895242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C159863-67E9-1674-4846-80F115A66C96}"/>
              </a:ext>
            </a:extLst>
          </p:cNvPr>
          <p:cNvSpPr>
            <a:spLocks noGrp="1"/>
          </p:cNvSpPr>
          <p:nvPr>
            <p:ph type="dt" sz="half" idx="10"/>
          </p:nvPr>
        </p:nvSpPr>
        <p:spPr/>
        <p:txBody>
          <a:bodyPr/>
          <a:lstStyle/>
          <a:p>
            <a:fld id="{83B766EB-A638-4BA2-8AA5-F8D750AF9EFD}" type="datetime1">
              <a:rPr lang="vi-VN" smtClean="0"/>
              <a:t>30/10/2025</a:t>
            </a:fld>
            <a:endParaRPr lang="en-US"/>
          </a:p>
        </p:txBody>
      </p:sp>
      <p:sp>
        <p:nvSpPr>
          <p:cNvPr id="3" name="Footer Placeholder 2">
            <a:extLst>
              <a:ext uri="{FF2B5EF4-FFF2-40B4-BE49-F238E27FC236}">
                <a16:creationId xmlns:a16="http://schemas.microsoft.com/office/drawing/2014/main" id="{C8CCA1BF-C6B6-DB23-5087-BBC7C4E143AB}"/>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1B63053A-A097-93E5-A5E5-3DF8CF036C70}"/>
              </a:ext>
            </a:extLst>
          </p:cNvPr>
          <p:cNvSpPr>
            <a:spLocks noGrp="1"/>
          </p:cNvSpPr>
          <p:nvPr>
            <p:ph type="sldNum" sz="quarter" idx="12"/>
          </p:nvPr>
        </p:nvSpPr>
        <p:spPr/>
        <p:txBody>
          <a:bodyPr/>
          <a:lstStyle/>
          <a:p>
            <a:fld id="{18465823-24DD-4389-90AD-EB96B0370D37}" type="slidenum">
              <a:rPr lang="en-US" smtClean="0"/>
              <a:t>‹#›</a:t>
            </a:fld>
            <a:endParaRPr lang="en-US"/>
          </a:p>
        </p:txBody>
      </p:sp>
    </p:spTree>
    <p:extLst>
      <p:ext uri="{BB962C8B-B14F-4D97-AF65-F5344CB8AC3E}">
        <p14:creationId xmlns:p14="http://schemas.microsoft.com/office/powerpoint/2010/main" val="414853983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01F4CD-C297-7FD1-0FE9-D85723E56FE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A898000F-23EC-65D6-32DC-D1E191B5FCD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9D965AE5-99B9-1B17-FABA-770749E5D78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A81C15E-DE0C-FD9B-E15A-482CE054147D}"/>
              </a:ext>
            </a:extLst>
          </p:cNvPr>
          <p:cNvSpPr>
            <a:spLocks noGrp="1"/>
          </p:cNvSpPr>
          <p:nvPr>
            <p:ph type="dt" sz="half" idx="10"/>
          </p:nvPr>
        </p:nvSpPr>
        <p:spPr/>
        <p:txBody>
          <a:bodyPr/>
          <a:lstStyle/>
          <a:p>
            <a:fld id="{FC5B80C8-AF9F-42FE-8BBF-AE337B24C20C}" type="datetime1">
              <a:rPr lang="vi-VN" smtClean="0"/>
              <a:t>30/10/2025</a:t>
            </a:fld>
            <a:endParaRPr lang="en-US"/>
          </a:p>
        </p:txBody>
      </p:sp>
      <p:sp>
        <p:nvSpPr>
          <p:cNvPr id="6" name="Footer Placeholder 5">
            <a:extLst>
              <a:ext uri="{FF2B5EF4-FFF2-40B4-BE49-F238E27FC236}">
                <a16:creationId xmlns:a16="http://schemas.microsoft.com/office/drawing/2014/main" id="{2AB02996-E96C-C5E4-D19B-1F0F5D7FD02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17A0FC0-6E1F-2E13-73A1-63B058261610}"/>
              </a:ext>
            </a:extLst>
          </p:cNvPr>
          <p:cNvSpPr>
            <a:spLocks noGrp="1"/>
          </p:cNvSpPr>
          <p:nvPr>
            <p:ph type="sldNum" sz="quarter" idx="12"/>
          </p:nvPr>
        </p:nvSpPr>
        <p:spPr/>
        <p:txBody>
          <a:bodyPr/>
          <a:lstStyle/>
          <a:p>
            <a:fld id="{18465823-24DD-4389-90AD-EB96B0370D37}" type="slidenum">
              <a:rPr lang="en-US" smtClean="0"/>
              <a:t>‹#›</a:t>
            </a:fld>
            <a:endParaRPr lang="en-US"/>
          </a:p>
        </p:txBody>
      </p:sp>
    </p:spTree>
    <p:extLst>
      <p:ext uri="{BB962C8B-B14F-4D97-AF65-F5344CB8AC3E}">
        <p14:creationId xmlns:p14="http://schemas.microsoft.com/office/powerpoint/2010/main" val="142953816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BCAD24-69EC-F12C-A5DF-84B8CE893ED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62E3175E-9853-B3A6-EA4A-8EF8D227EA7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F3C67461-75E1-1949-4F15-2D915843928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3E3B741-D5D3-AA1E-4858-3EB1D044DB55}"/>
              </a:ext>
            </a:extLst>
          </p:cNvPr>
          <p:cNvSpPr>
            <a:spLocks noGrp="1"/>
          </p:cNvSpPr>
          <p:nvPr>
            <p:ph type="dt" sz="half" idx="10"/>
          </p:nvPr>
        </p:nvSpPr>
        <p:spPr/>
        <p:txBody>
          <a:bodyPr/>
          <a:lstStyle/>
          <a:p>
            <a:fld id="{E1FB7A8E-4CC3-4EA2-83B4-94BF9DE947DC}" type="datetime1">
              <a:rPr lang="vi-VN" smtClean="0"/>
              <a:t>30/10/2025</a:t>
            </a:fld>
            <a:endParaRPr lang="en-US"/>
          </a:p>
        </p:txBody>
      </p:sp>
      <p:sp>
        <p:nvSpPr>
          <p:cNvPr id="6" name="Footer Placeholder 5">
            <a:extLst>
              <a:ext uri="{FF2B5EF4-FFF2-40B4-BE49-F238E27FC236}">
                <a16:creationId xmlns:a16="http://schemas.microsoft.com/office/drawing/2014/main" id="{2D0527A8-4302-C04E-311B-A201A755A47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8E9957D-F73E-5F29-20DF-ABB2D5BF9198}"/>
              </a:ext>
            </a:extLst>
          </p:cNvPr>
          <p:cNvSpPr>
            <a:spLocks noGrp="1"/>
          </p:cNvSpPr>
          <p:nvPr>
            <p:ph type="sldNum" sz="quarter" idx="12"/>
          </p:nvPr>
        </p:nvSpPr>
        <p:spPr/>
        <p:txBody>
          <a:bodyPr/>
          <a:lstStyle/>
          <a:p>
            <a:fld id="{18465823-24DD-4389-90AD-EB96B0370D37}" type="slidenum">
              <a:rPr lang="en-US" smtClean="0"/>
              <a:t>‹#›</a:t>
            </a:fld>
            <a:endParaRPr lang="en-US"/>
          </a:p>
        </p:txBody>
      </p:sp>
    </p:spTree>
    <p:extLst>
      <p:ext uri="{BB962C8B-B14F-4D97-AF65-F5344CB8AC3E}">
        <p14:creationId xmlns:p14="http://schemas.microsoft.com/office/powerpoint/2010/main" val="181183856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4AD26E-FFD9-94B5-0B3A-80DC2631E2AF}"/>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B325239B-97A4-471A-623E-38CB9FE507B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22EB5FB-F1AD-5035-5DC0-9CBAD99AF8D7}"/>
              </a:ext>
            </a:extLst>
          </p:cNvPr>
          <p:cNvSpPr>
            <a:spLocks noGrp="1"/>
          </p:cNvSpPr>
          <p:nvPr>
            <p:ph type="dt" sz="half" idx="10"/>
          </p:nvPr>
        </p:nvSpPr>
        <p:spPr/>
        <p:txBody>
          <a:bodyPr/>
          <a:lstStyle/>
          <a:p>
            <a:fld id="{A3C8EEFA-0D90-436A-8E91-93EB85AB11E1}" type="datetime1">
              <a:rPr lang="vi-VN" smtClean="0"/>
              <a:t>30/10/2025</a:t>
            </a:fld>
            <a:endParaRPr lang="en-US"/>
          </a:p>
        </p:txBody>
      </p:sp>
      <p:sp>
        <p:nvSpPr>
          <p:cNvPr id="5" name="Footer Placeholder 4">
            <a:extLst>
              <a:ext uri="{FF2B5EF4-FFF2-40B4-BE49-F238E27FC236}">
                <a16:creationId xmlns:a16="http://schemas.microsoft.com/office/drawing/2014/main" id="{36D5091A-BC54-9260-E7A0-FA9133F6CEE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5AF48B0-D72E-5AFE-9466-9281ED3C402C}"/>
              </a:ext>
            </a:extLst>
          </p:cNvPr>
          <p:cNvSpPr>
            <a:spLocks noGrp="1"/>
          </p:cNvSpPr>
          <p:nvPr>
            <p:ph type="sldNum" sz="quarter" idx="12"/>
          </p:nvPr>
        </p:nvSpPr>
        <p:spPr/>
        <p:txBody>
          <a:bodyPr/>
          <a:lstStyle/>
          <a:p>
            <a:fld id="{18465823-24DD-4389-90AD-EB96B0370D37}" type="slidenum">
              <a:rPr lang="en-US" smtClean="0"/>
              <a:t>‹#›</a:t>
            </a:fld>
            <a:endParaRPr lang="en-US"/>
          </a:p>
        </p:txBody>
      </p:sp>
    </p:spTree>
    <p:extLst>
      <p:ext uri="{BB962C8B-B14F-4D97-AF65-F5344CB8AC3E}">
        <p14:creationId xmlns:p14="http://schemas.microsoft.com/office/powerpoint/2010/main" val="273515143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9DD64D7-8A73-13E7-054D-76BDDEC3D7EF}"/>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5F4048B5-AE68-32A5-9E40-D416CF455F2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A1CA149-7469-2E94-44E6-F705180AF781}"/>
              </a:ext>
            </a:extLst>
          </p:cNvPr>
          <p:cNvSpPr>
            <a:spLocks noGrp="1"/>
          </p:cNvSpPr>
          <p:nvPr>
            <p:ph type="dt" sz="half" idx="10"/>
          </p:nvPr>
        </p:nvSpPr>
        <p:spPr/>
        <p:txBody>
          <a:bodyPr/>
          <a:lstStyle/>
          <a:p>
            <a:fld id="{23F3AB03-5943-43D8-B1AE-1E2B0A36C8D8}" type="datetime1">
              <a:rPr lang="vi-VN" smtClean="0"/>
              <a:t>30/10/2025</a:t>
            </a:fld>
            <a:endParaRPr lang="en-US"/>
          </a:p>
        </p:txBody>
      </p:sp>
      <p:sp>
        <p:nvSpPr>
          <p:cNvPr id="5" name="Footer Placeholder 4">
            <a:extLst>
              <a:ext uri="{FF2B5EF4-FFF2-40B4-BE49-F238E27FC236}">
                <a16:creationId xmlns:a16="http://schemas.microsoft.com/office/drawing/2014/main" id="{A86F7038-9A47-B2A7-0AB8-ACC1064B179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A155774-D2AB-316B-1CD2-50033879A650}"/>
              </a:ext>
            </a:extLst>
          </p:cNvPr>
          <p:cNvSpPr>
            <a:spLocks noGrp="1"/>
          </p:cNvSpPr>
          <p:nvPr>
            <p:ph type="sldNum" sz="quarter" idx="12"/>
          </p:nvPr>
        </p:nvSpPr>
        <p:spPr/>
        <p:txBody>
          <a:bodyPr/>
          <a:lstStyle/>
          <a:p>
            <a:fld id="{18465823-24DD-4389-90AD-EB96B0370D37}" type="slidenum">
              <a:rPr lang="en-US" smtClean="0"/>
              <a:t>‹#›</a:t>
            </a:fld>
            <a:endParaRPr lang="en-US"/>
          </a:p>
        </p:txBody>
      </p:sp>
    </p:spTree>
    <p:extLst>
      <p:ext uri="{BB962C8B-B14F-4D97-AF65-F5344CB8AC3E}">
        <p14:creationId xmlns:p14="http://schemas.microsoft.com/office/powerpoint/2010/main" val="14097948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0F2AAFE-EA9A-041B-FAE4-DF79E144113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813FD2E9-C2C6-B3CC-D4D6-0C181864E46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A5706E6-C815-FA0C-56F1-DEABCE0DC39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87E318E-09DA-4019-A23C-446898E6BFD2}" type="datetime1">
              <a:rPr lang="vi-VN" smtClean="0"/>
              <a:t>30/10/2025</a:t>
            </a:fld>
            <a:endParaRPr lang="en-US"/>
          </a:p>
        </p:txBody>
      </p:sp>
      <p:sp>
        <p:nvSpPr>
          <p:cNvPr id="5" name="Footer Placeholder 4">
            <a:extLst>
              <a:ext uri="{FF2B5EF4-FFF2-40B4-BE49-F238E27FC236}">
                <a16:creationId xmlns:a16="http://schemas.microsoft.com/office/drawing/2014/main" id="{935B575A-E704-ED3A-3137-E12C0CC5CD0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1F060679-4C76-BC01-F47B-711E4888E0C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18465823-24DD-4389-90AD-EB96B0370D37}" type="slidenum">
              <a:rPr lang="en-US" smtClean="0"/>
              <a:t>‹#›</a:t>
            </a:fld>
            <a:endParaRPr lang="en-US"/>
          </a:p>
        </p:txBody>
      </p:sp>
    </p:spTree>
    <p:extLst>
      <p:ext uri="{BB962C8B-B14F-4D97-AF65-F5344CB8AC3E}">
        <p14:creationId xmlns:p14="http://schemas.microsoft.com/office/powerpoint/2010/main" val="301263298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88C130-FAB7-3278-D1B1-D087BA9E3038}"/>
              </a:ext>
            </a:extLst>
          </p:cNvPr>
          <p:cNvSpPr>
            <a:spLocks noGrp="1"/>
          </p:cNvSpPr>
          <p:nvPr>
            <p:ph type="ctrTitle"/>
          </p:nvPr>
        </p:nvSpPr>
        <p:spPr>
          <a:xfrm>
            <a:off x="1523999" y="2493513"/>
            <a:ext cx="9144000" cy="1077314"/>
          </a:xfrm>
        </p:spPr>
        <p:txBody>
          <a:bodyPr>
            <a:noAutofit/>
          </a:bodyPr>
          <a:lstStyle/>
          <a:p>
            <a:r>
              <a:rPr lang="vi-VN" sz="2800" dirty="0">
                <a:latin typeface="Aptos Display (Headings)"/>
              </a:rPr>
              <a:t>THIẾT KẾ VÀ CHẾ TẠO THIẾT BỊ ĐÁNH GIÁ CƠ </a:t>
            </a:r>
            <a:r>
              <a:rPr lang="vi-VN" sz="2800">
                <a:latin typeface="Aptos Display (Headings)"/>
              </a:rPr>
              <a:t>BẮP ĐA / </a:t>
            </a:r>
            <a:r>
              <a:rPr lang="vi-VN" sz="2800" dirty="0">
                <a:latin typeface="Aptos Display (Headings)"/>
              </a:rPr>
              <a:t>THÔNG SỐ ĐỂ PHÁT HIỆN SỚM BỆNH LÝ THẦN KINH - CƠ</a:t>
            </a:r>
            <a:endParaRPr lang="en-US" sz="2800" dirty="0">
              <a:latin typeface="Aptos Display (Headings)"/>
            </a:endParaRPr>
          </a:p>
        </p:txBody>
      </p:sp>
      <p:sp>
        <p:nvSpPr>
          <p:cNvPr id="3" name="Subtitle 2">
            <a:extLst>
              <a:ext uri="{FF2B5EF4-FFF2-40B4-BE49-F238E27FC236}">
                <a16:creationId xmlns:a16="http://schemas.microsoft.com/office/drawing/2014/main" id="{FEF124DD-8F22-02F5-68D9-ED3B99753624}"/>
              </a:ext>
            </a:extLst>
          </p:cNvPr>
          <p:cNvSpPr>
            <a:spLocks noGrp="1"/>
          </p:cNvSpPr>
          <p:nvPr>
            <p:ph type="subTitle" idx="1"/>
          </p:nvPr>
        </p:nvSpPr>
        <p:spPr>
          <a:xfrm>
            <a:off x="7694762" y="4606504"/>
            <a:ext cx="3671977" cy="918713"/>
          </a:xfrm>
        </p:spPr>
        <p:txBody>
          <a:bodyPr/>
          <a:lstStyle/>
          <a:p>
            <a:pPr algn="r"/>
            <a:r>
              <a:rPr lang="vi-VN" dirty="0"/>
              <a:t>HVCH: Võ Tấn Minh Khôi</a:t>
            </a:r>
            <a:endParaRPr lang="en-US" dirty="0"/>
          </a:p>
        </p:txBody>
      </p:sp>
      <p:sp>
        <p:nvSpPr>
          <p:cNvPr id="4" name="TextBox 3">
            <a:extLst>
              <a:ext uri="{FF2B5EF4-FFF2-40B4-BE49-F238E27FC236}">
                <a16:creationId xmlns:a16="http://schemas.microsoft.com/office/drawing/2014/main" id="{0E87AD12-38A5-8BAD-956A-7D410826418C}"/>
              </a:ext>
            </a:extLst>
          </p:cNvPr>
          <p:cNvSpPr txBox="1"/>
          <p:nvPr/>
        </p:nvSpPr>
        <p:spPr>
          <a:xfrm>
            <a:off x="2940170" y="287251"/>
            <a:ext cx="6311660" cy="830997"/>
          </a:xfrm>
          <a:prstGeom prst="rect">
            <a:avLst/>
          </a:prstGeom>
          <a:noFill/>
        </p:spPr>
        <p:txBody>
          <a:bodyPr wrap="square" rtlCol="0">
            <a:spAutoFit/>
          </a:bodyPr>
          <a:lstStyle/>
          <a:p>
            <a:r>
              <a:rPr lang="vi-VN" sz="2400" dirty="0">
                <a:latin typeface="Aptos Display (Headings)"/>
              </a:rPr>
              <a:t>ĐẠI HỌC QUỐC GIA THÀNH PHỐ HỒ CHÍ MINH</a:t>
            </a:r>
          </a:p>
          <a:p>
            <a:pPr algn="ctr"/>
            <a:r>
              <a:rPr lang="vi-VN" sz="2400" dirty="0">
                <a:latin typeface="Aptos Display (Headings)"/>
              </a:rPr>
              <a:t>ĐẠI HỌC KHOA HỌC TỰ NHIÊN</a:t>
            </a:r>
            <a:endParaRPr lang="en-US" sz="2400" dirty="0">
              <a:latin typeface="Aptos Display (Headings)"/>
            </a:endParaRPr>
          </a:p>
        </p:txBody>
      </p:sp>
      <p:sp>
        <p:nvSpPr>
          <p:cNvPr id="5" name="TextBox 4">
            <a:extLst>
              <a:ext uri="{FF2B5EF4-FFF2-40B4-BE49-F238E27FC236}">
                <a16:creationId xmlns:a16="http://schemas.microsoft.com/office/drawing/2014/main" id="{DDDAA7A7-5232-9FFD-2BF9-6D382EBE4D7A}"/>
              </a:ext>
            </a:extLst>
          </p:cNvPr>
          <p:cNvSpPr txBox="1"/>
          <p:nvPr/>
        </p:nvSpPr>
        <p:spPr>
          <a:xfrm>
            <a:off x="4474952" y="1057727"/>
            <a:ext cx="3242095" cy="400110"/>
          </a:xfrm>
          <a:prstGeom prst="rect">
            <a:avLst/>
          </a:prstGeom>
          <a:noFill/>
        </p:spPr>
        <p:txBody>
          <a:bodyPr wrap="square" rtlCol="0">
            <a:spAutoFit/>
          </a:bodyPr>
          <a:lstStyle/>
          <a:p>
            <a:r>
              <a:rPr lang="vi-VN" sz="2000" dirty="0"/>
              <a:t>Khoa Điện tử - Viễn thông</a:t>
            </a:r>
            <a:endParaRPr lang="en-US" sz="2000" dirty="0"/>
          </a:p>
        </p:txBody>
      </p:sp>
      <p:pic>
        <p:nvPicPr>
          <p:cNvPr id="7" name="Picture 6">
            <a:extLst>
              <a:ext uri="{FF2B5EF4-FFF2-40B4-BE49-F238E27FC236}">
                <a16:creationId xmlns:a16="http://schemas.microsoft.com/office/drawing/2014/main" id="{CDAC0004-C9AB-6AFF-5EB0-5F9143B6889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9527" y="121728"/>
            <a:ext cx="1630722" cy="1336108"/>
          </a:xfrm>
          <a:prstGeom prst="rect">
            <a:avLst/>
          </a:prstGeom>
        </p:spPr>
      </p:pic>
      <p:sp>
        <p:nvSpPr>
          <p:cNvPr id="8" name="TextBox 7">
            <a:extLst>
              <a:ext uri="{FF2B5EF4-FFF2-40B4-BE49-F238E27FC236}">
                <a16:creationId xmlns:a16="http://schemas.microsoft.com/office/drawing/2014/main" id="{9DB2C567-3450-0FBF-FC88-51C51BD26D7E}"/>
              </a:ext>
            </a:extLst>
          </p:cNvPr>
          <p:cNvSpPr txBox="1"/>
          <p:nvPr/>
        </p:nvSpPr>
        <p:spPr>
          <a:xfrm>
            <a:off x="4646761" y="6280030"/>
            <a:ext cx="2898476" cy="369332"/>
          </a:xfrm>
          <a:prstGeom prst="rect">
            <a:avLst/>
          </a:prstGeom>
          <a:noFill/>
        </p:spPr>
        <p:txBody>
          <a:bodyPr wrap="square" rtlCol="0">
            <a:spAutoFit/>
          </a:bodyPr>
          <a:lstStyle/>
          <a:p>
            <a:r>
              <a:rPr lang="vi-VN" dirty="0"/>
              <a:t>TP. HỒ CHÍ MINH, 2025</a:t>
            </a:r>
            <a:endParaRPr lang="en-US" dirty="0"/>
          </a:p>
        </p:txBody>
      </p:sp>
    </p:spTree>
    <p:extLst>
      <p:ext uri="{BB962C8B-B14F-4D97-AF65-F5344CB8AC3E}">
        <p14:creationId xmlns:p14="http://schemas.microsoft.com/office/powerpoint/2010/main" val="394446266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A08368-A820-CE0E-6BFF-859EFC66DA34}"/>
              </a:ext>
            </a:extLst>
          </p:cNvPr>
          <p:cNvSpPr>
            <a:spLocks noGrp="1"/>
          </p:cNvSpPr>
          <p:nvPr>
            <p:ph type="title"/>
          </p:nvPr>
        </p:nvSpPr>
        <p:spPr/>
        <p:txBody>
          <a:bodyPr/>
          <a:lstStyle/>
          <a:p>
            <a:r>
              <a:rPr lang="vi-VN" dirty="0">
                <a:latin typeface="Aptos Display (Headings)"/>
              </a:rPr>
              <a:t>Agenda</a:t>
            </a:r>
            <a:endParaRPr lang="en-US" dirty="0">
              <a:latin typeface="Aptos Display (Headings)"/>
            </a:endParaRPr>
          </a:p>
        </p:txBody>
      </p:sp>
      <p:sp>
        <p:nvSpPr>
          <p:cNvPr id="3" name="Content Placeholder 2">
            <a:extLst>
              <a:ext uri="{FF2B5EF4-FFF2-40B4-BE49-F238E27FC236}">
                <a16:creationId xmlns:a16="http://schemas.microsoft.com/office/drawing/2014/main" id="{6EB3C893-3BE7-B104-FB85-959677494CE5}"/>
              </a:ext>
            </a:extLst>
          </p:cNvPr>
          <p:cNvSpPr>
            <a:spLocks noGrp="1"/>
          </p:cNvSpPr>
          <p:nvPr>
            <p:ph idx="1"/>
          </p:nvPr>
        </p:nvSpPr>
        <p:spPr/>
        <p:txBody>
          <a:bodyPr/>
          <a:lstStyle/>
          <a:p>
            <a:r>
              <a:rPr lang="vi-VN" dirty="0"/>
              <a:t>Giới thiệu chung</a:t>
            </a:r>
          </a:p>
          <a:p>
            <a:r>
              <a:rPr lang="vi-VN" dirty="0"/>
              <a:t>Mục tiêu và phạm vi đề tài</a:t>
            </a:r>
          </a:p>
          <a:p>
            <a:r>
              <a:rPr lang="vi-VN" dirty="0"/>
              <a:t>Cơ sở kỹ thuật</a:t>
            </a:r>
          </a:p>
          <a:p>
            <a:r>
              <a:rPr lang="vi-VN" dirty="0"/>
              <a:t>Ý nghĩa khoa học và ứng dụng</a:t>
            </a:r>
          </a:p>
        </p:txBody>
      </p:sp>
      <p:sp>
        <p:nvSpPr>
          <p:cNvPr id="4" name="Date Placeholder 3">
            <a:extLst>
              <a:ext uri="{FF2B5EF4-FFF2-40B4-BE49-F238E27FC236}">
                <a16:creationId xmlns:a16="http://schemas.microsoft.com/office/drawing/2014/main" id="{DBB1BC38-1A05-B51F-838F-617191AA9D73}"/>
              </a:ext>
            </a:extLst>
          </p:cNvPr>
          <p:cNvSpPr>
            <a:spLocks noGrp="1"/>
          </p:cNvSpPr>
          <p:nvPr>
            <p:ph type="dt" sz="half" idx="10"/>
          </p:nvPr>
        </p:nvSpPr>
        <p:spPr/>
        <p:txBody>
          <a:bodyPr/>
          <a:lstStyle/>
          <a:p>
            <a:fld id="{A2AB8206-7C45-4C2A-A4A2-6D375600EC47}" type="datetime1">
              <a:rPr lang="vi-VN" smtClean="0"/>
              <a:t>30/10/2025</a:t>
            </a:fld>
            <a:endParaRPr lang="en-US"/>
          </a:p>
        </p:txBody>
      </p:sp>
      <p:sp>
        <p:nvSpPr>
          <p:cNvPr id="5" name="Slide Number Placeholder 4">
            <a:extLst>
              <a:ext uri="{FF2B5EF4-FFF2-40B4-BE49-F238E27FC236}">
                <a16:creationId xmlns:a16="http://schemas.microsoft.com/office/drawing/2014/main" id="{2D4074C0-ACD0-3A7E-EBAF-F49CF4C6163B}"/>
              </a:ext>
            </a:extLst>
          </p:cNvPr>
          <p:cNvSpPr>
            <a:spLocks noGrp="1"/>
          </p:cNvSpPr>
          <p:nvPr>
            <p:ph type="sldNum" sz="quarter" idx="12"/>
          </p:nvPr>
        </p:nvSpPr>
        <p:spPr/>
        <p:txBody>
          <a:bodyPr/>
          <a:lstStyle/>
          <a:p>
            <a:fld id="{18465823-24DD-4389-90AD-EB96B0370D37}" type="slidenum">
              <a:rPr lang="en-US" smtClean="0"/>
              <a:t>2</a:t>
            </a:fld>
            <a:endParaRPr lang="en-US"/>
          </a:p>
        </p:txBody>
      </p:sp>
    </p:spTree>
    <p:extLst>
      <p:ext uri="{BB962C8B-B14F-4D97-AF65-F5344CB8AC3E}">
        <p14:creationId xmlns:p14="http://schemas.microsoft.com/office/powerpoint/2010/main" val="331716086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B5B0DB-F8FF-E9A4-8944-A8A2DCE6B571}"/>
              </a:ext>
            </a:extLst>
          </p:cNvPr>
          <p:cNvSpPr>
            <a:spLocks noGrp="1"/>
          </p:cNvSpPr>
          <p:nvPr>
            <p:ph type="title"/>
          </p:nvPr>
        </p:nvSpPr>
        <p:spPr/>
        <p:txBody>
          <a:bodyPr/>
          <a:lstStyle/>
          <a:p>
            <a:r>
              <a:rPr lang="vi-VN" dirty="0">
                <a:latin typeface="Aptos Display (Headings)"/>
              </a:rPr>
              <a:t>Giới thiệu chung</a:t>
            </a:r>
            <a:endParaRPr lang="en-US" dirty="0">
              <a:latin typeface="Aptos Display (Headings)"/>
            </a:endParaRPr>
          </a:p>
        </p:txBody>
      </p:sp>
      <p:sp>
        <p:nvSpPr>
          <p:cNvPr id="3" name="Content Placeholder 2">
            <a:extLst>
              <a:ext uri="{FF2B5EF4-FFF2-40B4-BE49-F238E27FC236}">
                <a16:creationId xmlns:a16="http://schemas.microsoft.com/office/drawing/2014/main" id="{AC3E6484-69E8-54C1-23B9-D6FCB37AC4A6}"/>
              </a:ext>
            </a:extLst>
          </p:cNvPr>
          <p:cNvSpPr>
            <a:spLocks noGrp="1"/>
          </p:cNvSpPr>
          <p:nvPr>
            <p:ph idx="1"/>
          </p:nvPr>
        </p:nvSpPr>
        <p:spPr>
          <a:xfrm>
            <a:off x="838200" y="1825625"/>
            <a:ext cx="10515600" cy="3755666"/>
          </a:xfrm>
        </p:spPr>
        <p:txBody>
          <a:bodyPr>
            <a:normAutofit/>
          </a:bodyPr>
          <a:lstStyle/>
          <a:p>
            <a:r>
              <a:rPr lang="vi-VN" sz="2400" dirty="0">
                <a:latin typeface="Aptos Display (Headings)"/>
              </a:rPr>
              <a:t>Bệnh lý cơ — đặc biệt rối loạn thần kinh-cơ và teo cơ do lão hóa hoặc bất động — đang gia tăng</a:t>
            </a:r>
          </a:p>
          <a:p>
            <a:r>
              <a:rPr lang="vi-VN" sz="2400" dirty="0">
                <a:latin typeface="Aptos Display (Headings)"/>
              </a:rPr>
              <a:t>Làm giảm mạnh chất lượng sống. Cần chẩn đoán sớm và theo dõi tiến triển bằng chỉ số khách quan</a:t>
            </a:r>
            <a:endParaRPr lang="en-US" dirty="0">
              <a:latin typeface="Aptos Display (Headings)"/>
            </a:endParaRPr>
          </a:p>
          <a:p>
            <a:r>
              <a:rPr lang="vi-VN" sz="2400" dirty="0">
                <a:latin typeface="Aptos Display (Headings)"/>
              </a:rPr>
              <a:t> Các phương pháp lâm sàng hiện tại thường tập trung vào một thông số hoặc có tính xâm lấn/chi phí cao</a:t>
            </a:r>
            <a:r>
              <a:rPr lang="en-US" sz="2400" dirty="0">
                <a:latin typeface="Aptos Display (Headings)"/>
              </a:rPr>
              <a:t>:</a:t>
            </a:r>
          </a:p>
          <a:p>
            <a:pPr lvl="1"/>
            <a:r>
              <a:rPr lang="en-US" sz="1600" b="1" dirty="0"/>
              <a:t>Needle EMG / Nerve Conduction:</a:t>
            </a:r>
            <a:r>
              <a:rPr lang="en-US" sz="1600" dirty="0"/>
              <a:t> </a:t>
            </a:r>
            <a:r>
              <a:rPr lang="en-US" sz="1600" dirty="0" err="1"/>
              <a:t>thủ</a:t>
            </a:r>
            <a:r>
              <a:rPr lang="en-US" sz="1600" dirty="0"/>
              <a:t> </a:t>
            </a:r>
            <a:r>
              <a:rPr lang="en-US" sz="1600" dirty="0" err="1"/>
              <a:t>thuật</a:t>
            </a:r>
            <a:r>
              <a:rPr lang="en-US" sz="1600" dirty="0"/>
              <a:t> </a:t>
            </a:r>
            <a:r>
              <a:rPr lang="en-US" sz="1600" b="1" dirty="0" err="1"/>
              <a:t>xâm</a:t>
            </a:r>
            <a:r>
              <a:rPr lang="en-US" sz="1600" b="1" dirty="0"/>
              <a:t> </a:t>
            </a:r>
            <a:r>
              <a:rPr lang="en-US" sz="1600" b="1" dirty="0" err="1"/>
              <a:t>lấn</a:t>
            </a:r>
            <a:r>
              <a:rPr lang="en-US" sz="1600" b="1" dirty="0"/>
              <a:t> </a:t>
            </a:r>
            <a:r>
              <a:rPr lang="en-US" sz="1600" b="1" dirty="0" err="1"/>
              <a:t>bằng</a:t>
            </a:r>
            <a:r>
              <a:rPr lang="en-US" sz="1600" b="1" dirty="0"/>
              <a:t> </a:t>
            </a:r>
            <a:r>
              <a:rPr lang="en-US" sz="1600" b="1" dirty="0" err="1"/>
              <a:t>kim</a:t>
            </a:r>
            <a:r>
              <a:rPr lang="en-US" sz="1600" dirty="0"/>
              <a:t>, </a:t>
            </a:r>
            <a:r>
              <a:rPr lang="en-US" sz="1600" dirty="0" err="1"/>
              <a:t>có</a:t>
            </a:r>
            <a:r>
              <a:rPr lang="en-US" sz="1600" dirty="0"/>
              <a:t> </a:t>
            </a:r>
            <a:r>
              <a:rPr lang="en-US" sz="1600" dirty="0" err="1"/>
              <a:t>rủi</a:t>
            </a:r>
            <a:r>
              <a:rPr lang="en-US" sz="1600" dirty="0"/>
              <a:t> </a:t>
            </a:r>
            <a:r>
              <a:rPr lang="en-US" sz="1600" dirty="0" err="1"/>
              <a:t>ro</a:t>
            </a:r>
            <a:r>
              <a:rPr lang="en-US" sz="1600" dirty="0"/>
              <a:t> (</a:t>
            </a:r>
            <a:r>
              <a:rPr lang="en-US" sz="1600" dirty="0" err="1"/>
              <a:t>dù</a:t>
            </a:r>
            <a:r>
              <a:rPr lang="en-US" sz="1600" dirty="0"/>
              <a:t> </a:t>
            </a:r>
            <a:r>
              <a:rPr lang="en-US" sz="1600" dirty="0" err="1"/>
              <a:t>thấp</a:t>
            </a:r>
            <a:r>
              <a:rPr lang="en-US" sz="1600" dirty="0"/>
              <a:t>) </a:t>
            </a:r>
            <a:r>
              <a:rPr lang="en-US" sz="1600" dirty="0" err="1"/>
              <a:t>và</a:t>
            </a:r>
            <a:r>
              <a:rPr lang="en-US" sz="1600" dirty="0"/>
              <a:t> </a:t>
            </a:r>
            <a:r>
              <a:rPr lang="en-US" sz="1600" dirty="0" err="1"/>
              <a:t>đòi</a:t>
            </a:r>
            <a:r>
              <a:rPr lang="en-US" sz="1600" dirty="0"/>
              <a:t> </a:t>
            </a:r>
            <a:r>
              <a:rPr lang="en-US" sz="1600" dirty="0" err="1"/>
              <a:t>hỏi</a:t>
            </a:r>
            <a:r>
              <a:rPr lang="en-US" sz="1600" dirty="0"/>
              <a:t> </a:t>
            </a:r>
            <a:r>
              <a:rPr lang="en-US" sz="1600" dirty="0" err="1"/>
              <a:t>chuyên</a:t>
            </a:r>
            <a:r>
              <a:rPr lang="en-US" sz="1600" dirty="0"/>
              <a:t> </a:t>
            </a:r>
            <a:r>
              <a:rPr lang="en-US" sz="1600" dirty="0" err="1"/>
              <a:t>gia</a:t>
            </a:r>
            <a:r>
              <a:rPr lang="en-US" sz="1600" dirty="0"/>
              <a:t>, </a:t>
            </a:r>
            <a:r>
              <a:rPr lang="en-US" sz="1600" dirty="0" err="1"/>
              <a:t>thời</a:t>
            </a:r>
            <a:r>
              <a:rPr lang="en-US" sz="1600" dirty="0"/>
              <a:t> </a:t>
            </a:r>
            <a:r>
              <a:rPr lang="en-US" sz="1600" dirty="0" err="1"/>
              <a:t>gian</a:t>
            </a:r>
            <a:r>
              <a:rPr lang="en-US" sz="1600" dirty="0"/>
              <a:t> </a:t>
            </a:r>
            <a:r>
              <a:rPr lang="en-US" sz="1600" dirty="0" err="1"/>
              <a:t>đo</a:t>
            </a:r>
            <a:endParaRPr lang="en-US" sz="1600" dirty="0"/>
          </a:p>
          <a:p>
            <a:pPr lvl="1"/>
            <a:r>
              <a:rPr lang="vi-VN" sz="1600" b="1" dirty="0"/>
              <a:t>Sinh thiết cơ (muscle biopsy):</a:t>
            </a:r>
            <a:r>
              <a:rPr lang="vi-VN" sz="1600" dirty="0"/>
              <a:t> “chuẩn vàng” mô học nhưng </a:t>
            </a:r>
            <a:r>
              <a:rPr lang="vi-VN" sz="1600" b="1" dirty="0"/>
              <a:t>xâm lấn</a:t>
            </a:r>
            <a:r>
              <a:rPr lang="vi-VN" sz="1600" dirty="0"/>
              <a:t>, cần phòng thủ thuật/chi phí, có thể gây đau và biến chứng nhẹ sau thủ thuật</a:t>
            </a:r>
            <a:endParaRPr lang="vi-VN" sz="1600" dirty="0">
              <a:latin typeface="Aptos Display (Headings)"/>
            </a:endParaRPr>
          </a:p>
        </p:txBody>
      </p:sp>
      <p:sp>
        <p:nvSpPr>
          <p:cNvPr id="4" name="Date Placeholder 3">
            <a:extLst>
              <a:ext uri="{FF2B5EF4-FFF2-40B4-BE49-F238E27FC236}">
                <a16:creationId xmlns:a16="http://schemas.microsoft.com/office/drawing/2014/main" id="{EBDF02B5-58D8-F0DB-C47A-D92A1A2376C1}"/>
              </a:ext>
            </a:extLst>
          </p:cNvPr>
          <p:cNvSpPr>
            <a:spLocks noGrp="1"/>
          </p:cNvSpPr>
          <p:nvPr>
            <p:ph type="dt" sz="half" idx="10"/>
          </p:nvPr>
        </p:nvSpPr>
        <p:spPr/>
        <p:txBody>
          <a:bodyPr/>
          <a:lstStyle/>
          <a:p>
            <a:fld id="{DFDA44C5-FF49-4031-A1FF-6DFDFE7830D3}" type="datetime1">
              <a:rPr lang="vi-VN" smtClean="0"/>
              <a:t>30/10/2025</a:t>
            </a:fld>
            <a:endParaRPr lang="en-US"/>
          </a:p>
        </p:txBody>
      </p:sp>
      <p:sp>
        <p:nvSpPr>
          <p:cNvPr id="5" name="Slide Number Placeholder 4">
            <a:extLst>
              <a:ext uri="{FF2B5EF4-FFF2-40B4-BE49-F238E27FC236}">
                <a16:creationId xmlns:a16="http://schemas.microsoft.com/office/drawing/2014/main" id="{2095AFAA-DABD-4230-5D00-A7587537D8C6}"/>
              </a:ext>
            </a:extLst>
          </p:cNvPr>
          <p:cNvSpPr>
            <a:spLocks noGrp="1"/>
          </p:cNvSpPr>
          <p:nvPr>
            <p:ph type="sldNum" sz="quarter" idx="12"/>
          </p:nvPr>
        </p:nvSpPr>
        <p:spPr/>
        <p:txBody>
          <a:bodyPr/>
          <a:lstStyle/>
          <a:p>
            <a:fld id="{18465823-24DD-4389-90AD-EB96B0370D37}" type="slidenum">
              <a:rPr lang="en-US" smtClean="0"/>
              <a:t>3</a:t>
            </a:fld>
            <a:endParaRPr lang="en-US" dirty="0"/>
          </a:p>
        </p:txBody>
      </p:sp>
    </p:spTree>
    <p:extLst>
      <p:ext uri="{BB962C8B-B14F-4D97-AF65-F5344CB8AC3E}">
        <p14:creationId xmlns:p14="http://schemas.microsoft.com/office/powerpoint/2010/main" val="218704592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521F9D-6374-F5AF-EBB9-0E1F2E98634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5FE5615-356F-92C4-6487-FD903121DA14}"/>
              </a:ext>
            </a:extLst>
          </p:cNvPr>
          <p:cNvSpPr>
            <a:spLocks noGrp="1"/>
          </p:cNvSpPr>
          <p:nvPr>
            <p:ph type="title"/>
          </p:nvPr>
        </p:nvSpPr>
        <p:spPr/>
        <p:txBody>
          <a:bodyPr/>
          <a:lstStyle/>
          <a:p>
            <a:r>
              <a:rPr lang="vi-VN" dirty="0">
                <a:latin typeface="Aptos Display (Headings)"/>
              </a:rPr>
              <a:t>Mục tiêu và phạm vi đề tài</a:t>
            </a:r>
            <a:endParaRPr lang="en-US" dirty="0">
              <a:latin typeface="Aptos Display (Headings)"/>
            </a:endParaRPr>
          </a:p>
        </p:txBody>
      </p:sp>
      <p:sp>
        <p:nvSpPr>
          <p:cNvPr id="3" name="Content Placeholder 2">
            <a:extLst>
              <a:ext uri="{FF2B5EF4-FFF2-40B4-BE49-F238E27FC236}">
                <a16:creationId xmlns:a16="http://schemas.microsoft.com/office/drawing/2014/main" id="{F8197D22-BB6F-ABC6-917E-3F849753AE69}"/>
              </a:ext>
            </a:extLst>
          </p:cNvPr>
          <p:cNvSpPr>
            <a:spLocks noGrp="1"/>
          </p:cNvSpPr>
          <p:nvPr>
            <p:ph idx="1"/>
          </p:nvPr>
        </p:nvSpPr>
        <p:spPr/>
        <p:txBody>
          <a:bodyPr>
            <a:normAutofit/>
          </a:bodyPr>
          <a:lstStyle/>
          <a:p>
            <a:r>
              <a:rPr lang="vi-VN" dirty="0">
                <a:latin typeface="Aptos Display (Headings)"/>
              </a:rPr>
              <a:t> </a:t>
            </a:r>
            <a:r>
              <a:rPr lang="vi-VN" b="1" dirty="0">
                <a:latin typeface="Aptos Display (Headings)"/>
              </a:rPr>
              <a:t>Mục tiêu tổng quát: </a:t>
            </a:r>
            <a:r>
              <a:rPr lang="vi-VN" dirty="0">
                <a:latin typeface="Aptos Display (Headings)"/>
              </a:rPr>
              <a:t>Chế tạo thành công một thiết bị đo lường đa thông số, có khả năng tích hợp và xử lý dữ liệu từ bốn đầu dò (Siêu âm, NIR, EIM, Indentometer) để đánh giá đồng thời các chỉ số sinh học của cơ. </a:t>
            </a:r>
          </a:p>
          <a:p>
            <a:r>
              <a:rPr lang="en-US" b="1" dirty="0" err="1">
                <a:latin typeface="Aptos Display (Headings)"/>
              </a:rPr>
              <a:t>Mục</a:t>
            </a:r>
            <a:r>
              <a:rPr lang="en-US" b="1" dirty="0">
                <a:latin typeface="Aptos Display (Headings)"/>
              </a:rPr>
              <a:t> </a:t>
            </a:r>
            <a:r>
              <a:rPr lang="en-US" b="1" dirty="0" err="1">
                <a:latin typeface="Aptos Display (Headings)"/>
              </a:rPr>
              <a:t>tiêu</a:t>
            </a:r>
            <a:r>
              <a:rPr lang="en-US" b="1" dirty="0">
                <a:latin typeface="Aptos Display (Headings)"/>
              </a:rPr>
              <a:t> </a:t>
            </a:r>
            <a:r>
              <a:rPr lang="en-US" b="1" dirty="0" err="1">
                <a:latin typeface="Aptos Display (Headings)"/>
              </a:rPr>
              <a:t>cụ</a:t>
            </a:r>
            <a:r>
              <a:rPr lang="en-US" b="1" dirty="0">
                <a:latin typeface="Aptos Display (Headings)"/>
              </a:rPr>
              <a:t> </a:t>
            </a:r>
            <a:r>
              <a:rPr lang="en-US" b="1" dirty="0" err="1">
                <a:latin typeface="Aptos Display (Headings)"/>
              </a:rPr>
              <a:t>thể</a:t>
            </a:r>
            <a:r>
              <a:rPr lang="en-US" b="1" dirty="0">
                <a:latin typeface="Aptos Display (Headings)"/>
              </a:rPr>
              <a:t>: </a:t>
            </a:r>
          </a:p>
          <a:p>
            <a:pPr lvl="1"/>
            <a:r>
              <a:rPr lang="vi-VN" dirty="0">
                <a:latin typeface="Aptos Display (Headings)"/>
              </a:rPr>
              <a:t>Đo lường định lượng: Cung cấp các giá trị chính xác về Độ dày cơ (mm), Độ xơ cơ (trở kháng/phổ NIR) và Độ cứng cơ (N/mm). </a:t>
            </a:r>
          </a:p>
          <a:p>
            <a:pPr lvl="1"/>
            <a:r>
              <a:rPr lang="vi-VN" dirty="0">
                <a:latin typeface="Aptos Display (Headings)"/>
              </a:rPr>
              <a:t>Phát triển thuật toán: Xây dựng mô hình xử lý và tích hợp dữ liệu (ví dụ: Học máy) để phân loại và cảnh báo nguy cơ bệnh lý cơ dựa trên sự kết hợp của các thông số. </a:t>
            </a:r>
          </a:p>
          <a:p>
            <a:pPr lvl="1"/>
            <a:r>
              <a:rPr lang="en-US" dirty="0" err="1">
                <a:latin typeface="Aptos Display (Headings)"/>
              </a:rPr>
              <a:t>Thẩm</a:t>
            </a:r>
            <a:r>
              <a:rPr lang="en-US" dirty="0">
                <a:latin typeface="Aptos Display (Headings)"/>
              </a:rPr>
              <a:t> </a:t>
            </a:r>
            <a:r>
              <a:rPr lang="en-US" dirty="0" err="1">
                <a:latin typeface="Aptos Display (Headings)"/>
              </a:rPr>
              <a:t>định</a:t>
            </a:r>
            <a:r>
              <a:rPr lang="en-US" dirty="0">
                <a:latin typeface="Aptos Display (Headings)"/>
              </a:rPr>
              <a:t>: </a:t>
            </a:r>
            <a:r>
              <a:rPr lang="en-US" dirty="0" err="1">
                <a:latin typeface="Aptos Display (Headings)"/>
              </a:rPr>
              <a:t>Kiểm</a:t>
            </a:r>
            <a:r>
              <a:rPr lang="en-US" dirty="0">
                <a:latin typeface="Aptos Display (Headings)"/>
              </a:rPr>
              <a:t> </a:t>
            </a:r>
            <a:r>
              <a:rPr lang="en-US" dirty="0" err="1">
                <a:latin typeface="Aptos Display (Headings)"/>
              </a:rPr>
              <a:t>tra</a:t>
            </a:r>
            <a:r>
              <a:rPr lang="en-US" dirty="0">
                <a:latin typeface="Aptos Display (Headings)"/>
              </a:rPr>
              <a:t> </a:t>
            </a:r>
            <a:r>
              <a:rPr lang="en-US" dirty="0" err="1">
                <a:latin typeface="Aptos Display (Headings)"/>
              </a:rPr>
              <a:t>tính</a:t>
            </a:r>
            <a:r>
              <a:rPr lang="en-US" dirty="0">
                <a:latin typeface="Aptos Display (Headings)"/>
              </a:rPr>
              <a:t> </a:t>
            </a:r>
            <a:r>
              <a:rPr lang="en-US" dirty="0" err="1">
                <a:latin typeface="Aptos Display (Headings)"/>
              </a:rPr>
              <a:t>chính</a:t>
            </a:r>
            <a:r>
              <a:rPr lang="en-US" dirty="0">
                <a:latin typeface="Aptos Display (Headings)"/>
              </a:rPr>
              <a:t> </a:t>
            </a:r>
            <a:r>
              <a:rPr lang="en-US" dirty="0" err="1">
                <a:latin typeface="Aptos Display (Headings)"/>
              </a:rPr>
              <a:t>xác</a:t>
            </a:r>
            <a:r>
              <a:rPr lang="en-US" dirty="0">
                <a:latin typeface="Aptos Display (Headings)"/>
              </a:rPr>
              <a:t> </a:t>
            </a:r>
            <a:r>
              <a:rPr lang="en-US" dirty="0" err="1">
                <a:latin typeface="Aptos Display (Headings)"/>
              </a:rPr>
              <a:t>và</a:t>
            </a:r>
            <a:r>
              <a:rPr lang="en-US" dirty="0">
                <a:latin typeface="Aptos Display (Headings)"/>
              </a:rPr>
              <a:t> </a:t>
            </a:r>
            <a:r>
              <a:rPr lang="en-US" dirty="0" err="1">
                <a:latin typeface="Aptos Display (Headings)"/>
              </a:rPr>
              <a:t>độ</a:t>
            </a:r>
            <a:r>
              <a:rPr lang="en-US" dirty="0">
                <a:latin typeface="Aptos Display (Headings)"/>
              </a:rPr>
              <a:t> tin </a:t>
            </a:r>
            <a:r>
              <a:rPr lang="en-US" dirty="0" err="1">
                <a:latin typeface="Aptos Display (Headings)"/>
              </a:rPr>
              <a:t>cậy</a:t>
            </a:r>
            <a:r>
              <a:rPr lang="en-US" dirty="0">
                <a:latin typeface="Aptos Display (Headings)"/>
              </a:rPr>
              <a:t> </a:t>
            </a:r>
            <a:r>
              <a:rPr lang="en-US" dirty="0" err="1">
                <a:latin typeface="Aptos Display (Headings)"/>
              </a:rPr>
              <a:t>của</a:t>
            </a:r>
            <a:r>
              <a:rPr lang="en-US" dirty="0">
                <a:latin typeface="Aptos Display (Headings)"/>
              </a:rPr>
              <a:t> </a:t>
            </a:r>
            <a:r>
              <a:rPr lang="en-US" dirty="0" err="1">
                <a:latin typeface="Aptos Display (Headings)"/>
              </a:rPr>
              <a:t>thiết</a:t>
            </a:r>
            <a:r>
              <a:rPr lang="en-US" dirty="0">
                <a:latin typeface="Aptos Display (Headings)"/>
              </a:rPr>
              <a:t> </a:t>
            </a:r>
            <a:r>
              <a:rPr lang="en-US" dirty="0" err="1">
                <a:latin typeface="Aptos Display (Headings)"/>
              </a:rPr>
              <a:t>bị</a:t>
            </a:r>
            <a:r>
              <a:rPr lang="en-US" dirty="0">
                <a:latin typeface="Aptos Display (Headings)"/>
              </a:rPr>
              <a:t> so </a:t>
            </a:r>
            <a:r>
              <a:rPr lang="en-US" dirty="0" err="1">
                <a:latin typeface="Aptos Display (Headings)"/>
              </a:rPr>
              <a:t>với</a:t>
            </a:r>
            <a:r>
              <a:rPr lang="en-US" dirty="0">
                <a:latin typeface="Aptos Display (Headings)"/>
              </a:rPr>
              <a:t> </a:t>
            </a:r>
            <a:r>
              <a:rPr lang="en-US" dirty="0" err="1">
                <a:latin typeface="Aptos Display (Headings)"/>
              </a:rPr>
              <a:t>các</a:t>
            </a:r>
            <a:r>
              <a:rPr lang="en-US" dirty="0">
                <a:latin typeface="Aptos Display (Headings)"/>
              </a:rPr>
              <a:t> </a:t>
            </a:r>
            <a:r>
              <a:rPr lang="en-US" dirty="0" err="1">
                <a:latin typeface="Aptos Display (Headings)"/>
              </a:rPr>
              <a:t>tiêu</a:t>
            </a:r>
            <a:r>
              <a:rPr lang="en-US" dirty="0">
                <a:latin typeface="Aptos Display (Headings)"/>
              </a:rPr>
              <a:t> </a:t>
            </a:r>
            <a:r>
              <a:rPr lang="en-US" dirty="0" err="1">
                <a:latin typeface="Aptos Display (Headings)"/>
              </a:rPr>
              <a:t>chuẩn</a:t>
            </a:r>
            <a:r>
              <a:rPr lang="en-US" dirty="0">
                <a:latin typeface="Aptos Display (Headings)"/>
              </a:rPr>
              <a:t> </a:t>
            </a:r>
            <a:r>
              <a:rPr lang="en-US" dirty="0" err="1">
                <a:latin typeface="Aptos Display (Headings)"/>
              </a:rPr>
              <a:t>vàng</a:t>
            </a:r>
            <a:r>
              <a:rPr lang="en-US" dirty="0">
                <a:latin typeface="Aptos Display (Headings)"/>
              </a:rPr>
              <a:t> </a:t>
            </a:r>
            <a:r>
              <a:rPr lang="en-US" dirty="0" err="1">
                <a:latin typeface="Aptos Display (Headings)"/>
              </a:rPr>
              <a:t>lâm</a:t>
            </a:r>
            <a:r>
              <a:rPr lang="en-US" dirty="0">
                <a:latin typeface="Aptos Display (Headings)"/>
              </a:rPr>
              <a:t> </a:t>
            </a:r>
            <a:r>
              <a:rPr lang="en-US" dirty="0" err="1">
                <a:latin typeface="Aptos Display (Headings)"/>
              </a:rPr>
              <a:t>sàng</a:t>
            </a:r>
            <a:r>
              <a:rPr lang="en-US" dirty="0">
                <a:latin typeface="Aptos Display (Headings)"/>
              </a:rPr>
              <a:t>. </a:t>
            </a:r>
          </a:p>
        </p:txBody>
      </p:sp>
      <p:sp>
        <p:nvSpPr>
          <p:cNvPr id="4" name="Date Placeholder 3">
            <a:extLst>
              <a:ext uri="{FF2B5EF4-FFF2-40B4-BE49-F238E27FC236}">
                <a16:creationId xmlns:a16="http://schemas.microsoft.com/office/drawing/2014/main" id="{C6939D84-FEAE-58C5-E35B-26CAC03C53F5}"/>
              </a:ext>
            </a:extLst>
          </p:cNvPr>
          <p:cNvSpPr>
            <a:spLocks noGrp="1"/>
          </p:cNvSpPr>
          <p:nvPr>
            <p:ph type="dt" sz="half" idx="10"/>
          </p:nvPr>
        </p:nvSpPr>
        <p:spPr/>
        <p:txBody>
          <a:bodyPr/>
          <a:lstStyle/>
          <a:p>
            <a:fld id="{DFDA44C5-FF49-4031-A1FF-6DFDFE7830D3}" type="datetime1">
              <a:rPr lang="vi-VN" smtClean="0"/>
              <a:t>30/10/2025</a:t>
            </a:fld>
            <a:endParaRPr lang="en-US"/>
          </a:p>
        </p:txBody>
      </p:sp>
      <p:sp>
        <p:nvSpPr>
          <p:cNvPr id="5" name="Slide Number Placeholder 4">
            <a:extLst>
              <a:ext uri="{FF2B5EF4-FFF2-40B4-BE49-F238E27FC236}">
                <a16:creationId xmlns:a16="http://schemas.microsoft.com/office/drawing/2014/main" id="{6D2209D1-C9E6-7D28-7825-71E52571C24F}"/>
              </a:ext>
            </a:extLst>
          </p:cNvPr>
          <p:cNvSpPr>
            <a:spLocks noGrp="1"/>
          </p:cNvSpPr>
          <p:nvPr>
            <p:ph type="sldNum" sz="quarter" idx="12"/>
          </p:nvPr>
        </p:nvSpPr>
        <p:spPr/>
        <p:txBody>
          <a:bodyPr/>
          <a:lstStyle/>
          <a:p>
            <a:fld id="{18465823-24DD-4389-90AD-EB96B0370D37}" type="slidenum">
              <a:rPr lang="en-US" smtClean="0"/>
              <a:t>4</a:t>
            </a:fld>
            <a:endParaRPr lang="en-US"/>
          </a:p>
        </p:txBody>
      </p:sp>
    </p:spTree>
    <p:extLst>
      <p:ext uri="{BB962C8B-B14F-4D97-AF65-F5344CB8AC3E}">
        <p14:creationId xmlns:p14="http://schemas.microsoft.com/office/powerpoint/2010/main" val="367844469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5551D7-9795-9AAD-FCCB-5873FA39E573}"/>
              </a:ext>
            </a:extLst>
          </p:cNvPr>
          <p:cNvSpPr>
            <a:spLocks noGrp="1"/>
          </p:cNvSpPr>
          <p:nvPr>
            <p:ph type="title"/>
          </p:nvPr>
        </p:nvSpPr>
        <p:spPr/>
        <p:txBody>
          <a:bodyPr/>
          <a:lstStyle/>
          <a:p>
            <a:r>
              <a:rPr lang="vi-VN" dirty="0">
                <a:latin typeface="Aptos Display (Headings)"/>
              </a:rPr>
              <a:t>Cơ sở kỹ thuật</a:t>
            </a:r>
            <a:endParaRPr lang="en-US" dirty="0">
              <a:latin typeface="Aptos Display (Headings)"/>
            </a:endParaRPr>
          </a:p>
        </p:txBody>
      </p:sp>
      <p:sp>
        <p:nvSpPr>
          <p:cNvPr id="3" name="Content Placeholder 2">
            <a:extLst>
              <a:ext uri="{FF2B5EF4-FFF2-40B4-BE49-F238E27FC236}">
                <a16:creationId xmlns:a16="http://schemas.microsoft.com/office/drawing/2014/main" id="{281C8A11-3CA6-D092-A9B7-44FEF62DC709}"/>
              </a:ext>
            </a:extLst>
          </p:cNvPr>
          <p:cNvSpPr>
            <a:spLocks noGrp="1"/>
          </p:cNvSpPr>
          <p:nvPr>
            <p:ph idx="1"/>
          </p:nvPr>
        </p:nvSpPr>
        <p:spPr/>
        <p:txBody>
          <a:bodyPr>
            <a:normAutofit/>
          </a:bodyPr>
          <a:lstStyle/>
          <a:p>
            <a:r>
              <a:rPr lang="vi-VN" sz="2400" b="1" dirty="0">
                <a:latin typeface="Aptos Display (Headings)"/>
              </a:rPr>
              <a:t>Module cảm biến siêu âm</a:t>
            </a:r>
          </a:p>
          <a:p>
            <a:r>
              <a:rPr lang="vi-VN" sz="2400" dirty="0">
                <a:latin typeface="Aptos Display (Headings)"/>
              </a:rPr>
              <a:t>Thông số đo: Độ dày của cơ bắp</a:t>
            </a:r>
          </a:p>
          <a:p>
            <a:r>
              <a:rPr lang="vi-VN" sz="2400" dirty="0">
                <a:latin typeface="Aptos Display (Headings)"/>
              </a:rPr>
              <a:t>Ý nghĩa sinh học: Khối lượng cơ và cấu trúc cơ học</a:t>
            </a:r>
          </a:p>
          <a:p>
            <a:r>
              <a:rPr lang="vi-VN" sz="2400" dirty="0">
                <a:latin typeface="Aptos Display (Headings)"/>
              </a:rPr>
              <a:t>Nguyên lý hoạt động:</a:t>
            </a:r>
          </a:p>
          <a:p>
            <a:pPr lvl="1"/>
            <a:r>
              <a:rPr lang="vi-VN" sz="2000" b="1" dirty="0">
                <a:latin typeface="Aptos Display (Headings)"/>
              </a:rPr>
              <a:t>Phát</a:t>
            </a:r>
            <a:r>
              <a:rPr lang="vi-VN" sz="2000" dirty="0">
                <a:latin typeface="Aptos Display (Headings)"/>
              </a:rPr>
              <a:t>: đầu dò phát ra sóng siêu âm vào cơ</a:t>
            </a:r>
          </a:p>
          <a:p>
            <a:pPr lvl="1"/>
            <a:r>
              <a:rPr lang="en-US" sz="2000" b="1" dirty="0" err="1">
                <a:latin typeface="Aptos Display (Headings)"/>
              </a:rPr>
              <a:t>Dội</a:t>
            </a:r>
            <a:r>
              <a:rPr lang="en-US" sz="2000" dirty="0">
                <a:latin typeface="Aptos Display (Headings)"/>
              </a:rPr>
              <a:t>: </a:t>
            </a:r>
            <a:r>
              <a:rPr lang="en-US" sz="2000" dirty="0" err="1">
                <a:latin typeface="Aptos Display (Headings)"/>
              </a:rPr>
              <a:t>sóng</a:t>
            </a:r>
            <a:r>
              <a:rPr lang="en-US" sz="2000" dirty="0">
                <a:latin typeface="Aptos Display (Headings)"/>
              </a:rPr>
              <a:t> </a:t>
            </a:r>
            <a:r>
              <a:rPr lang="en-US" sz="2000" dirty="0" err="1">
                <a:latin typeface="Aptos Display (Headings)"/>
              </a:rPr>
              <a:t>gặp</a:t>
            </a:r>
            <a:r>
              <a:rPr lang="en-US" sz="2000" dirty="0">
                <a:latin typeface="Aptos Display (Headings)"/>
              </a:rPr>
              <a:t> </a:t>
            </a:r>
            <a:r>
              <a:rPr lang="en-US" sz="2000" dirty="0" err="1">
                <a:latin typeface="Aptos Display (Headings)"/>
              </a:rPr>
              <a:t>mô</a:t>
            </a:r>
            <a:r>
              <a:rPr lang="en-US" sz="2000" dirty="0">
                <a:latin typeface="Aptos Display (Headings)"/>
              </a:rPr>
              <a:t> </a:t>
            </a:r>
            <a:r>
              <a:rPr lang="en-US" sz="2000" dirty="0" err="1">
                <a:latin typeface="Aptos Display (Headings)"/>
              </a:rPr>
              <a:t>khác</a:t>
            </a:r>
            <a:r>
              <a:rPr lang="en-US" sz="2000" dirty="0">
                <a:latin typeface="Aptos Display (Headings)"/>
              </a:rPr>
              <a:t> </a:t>
            </a:r>
            <a:r>
              <a:rPr lang="en-US" sz="2000" dirty="0" err="1">
                <a:latin typeface="Aptos Display (Headings)"/>
              </a:rPr>
              <a:t>nhau</a:t>
            </a:r>
            <a:r>
              <a:rPr lang="en-US" sz="2000" dirty="0">
                <a:latin typeface="Aptos Display (Headings)"/>
              </a:rPr>
              <a:t> </a:t>
            </a:r>
            <a:r>
              <a:rPr lang="en-US" sz="2000" dirty="0" err="1">
                <a:latin typeface="Aptos Display (Headings)"/>
              </a:rPr>
              <a:t>thì</a:t>
            </a:r>
            <a:r>
              <a:rPr lang="en-US" sz="2000" dirty="0">
                <a:latin typeface="Aptos Display (Headings)"/>
              </a:rPr>
              <a:t> </a:t>
            </a:r>
            <a:r>
              <a:rPr lang="en-US" sz="2000" b="1" dirty="0" err="1">
                <a:latin typeface="Aptos Display (Headings)"/>
              </a:rPr>
              <a:t>dội</a:t>
            </a:r>
            <a:r>
              <a:rPr lang="en-US" sz="2000" b="1" dirty="0">
                <a:latin typeface="Aptos Display (Headings)"/>
              </a:rPr>
              <a:t> </a:t>
            </a:r>
            <a:r>
              <a:rPr lang="en-US" sz="2000" b="1" dirty="0" err="1">
                <a:latin typeface="Aptos Display (Headings)"/>
              </a:rPr>
              <a:t>lại</a:t>
            </a:r>
            <a:r>
              <a:rPr lang="en-US" sz="2000" dirty="0">
                <a:latin typeface="Aptos Display (Headings)"/>
              </a:rPr>
              <a:t> (echo) </a:t>
            </a:r>
            <a:r>
              <a:rPr lang="en-US" sz="2000" dirty="0" err="1">
                <a:latin typeface="Aptos Display (Headings)"/>
              </a:rPr>
              <a:t>mạnh</a:t>
            </a:r>
            <a:r>
              <a:rPr lang="en-US" sz="2000" dirty="0">
                <a:latin typeface="Aptos Display (Headings)"/>
              </a:rPr>
              <a:t>/</a:t>
            </a:r>
            <a:r>
              <a:rPr lang="en-US" sz="2000" dirty="0" err="1">
                <a:latin typeface="Aptos Display (Headings)"/>
              </a:rPr>
              <a:t>yếu</a:t>
            </a:r>
            <a:r>
              <a:rPr lang="en-US" sz="2000" dirty="0">
                <a:latin typeface="Aptos Display (Headings)"/>
              </a:rPr>
              <a:t> </a:t>
            </a:r>
            <a:r>
              <a:rPr lang="en-US" sz="2000" dirty="0" err="1">
                <a:latin typeface="Aptos Display (Headings)"/>
              </a:rPr>
              <a:t>khác</a:t>
            </a:r>
            <a:r>
              <a:rPr lang="en-US" sz="2000" dirty="0">
                <a:latin typeface="Aptos Display (Headings)"/>
              </a:rPr>
              <a:t> </a:t>
            </a:r>
            <a:r>
              <a:rPr lang="en-US" sz="2000" dirty="0" err="1">
                <a:latin typeface="Aptos Display (Headings)"/>
              </a:rPr>
              <a:t>nhau</a:t>
            </a:r>
            <a:endParaRPr lang="vi-VN" sz="2000" dirty="0">
              <a:latin typeface="Aptos Display (Headings)"/>
            </a:endParaRPr>
          </a:p>
          <a:p>
            <a:pPr lvl="1"/>
            <a:r>
              <a:rPr lang="en-US" sz="2000" b="1" dirty="0" err="1">
                <a:latin typeface="Aptos Display (Headings)"/>
              </a:rPr>
              <a:t>Vẽ</a:t>
            </a:r>
            <a:r>
              <a:rPr lang="en-US" sz="2000" b="1" dirty="0">
                <a:latin typeface="Aptos Display (Headings)"/>
              </a:rPr>
              <a:t> </a:t>
            </a:r>
            <a:r>
              <a:rPr lang="en-US" sz="2000" b="1" dirty="0" err="1">
                <a:latin typeface="Aptos Display (Headings)"/>
              </a:rPr>
              <a:t>hình</a:t>
            </a:r>
            <a:r>
              <a:rPr lang="en-US" sz="2000" dirty="0">
                <a:latin typeface="Aptos Display (Headings)"/>
              </a:rPr>
              <a:t>: </a:t>
            </a:r>
            <a:r>
              <a:rPr lang="en-US" sz="2000" dirty="0" err="1">
                <a:latin typeface="Aptos Display (Headings)"/>
              </a:rPr>
              <a:t>máy</a:t>
            </a:r>
            <a:r>
              <a:rPr lang="en-US" sz="2000" dirty="0">
                <a:latin typeface="Aptos Display (Headings)"/>
              </a:rPr>
              <a:t> </a:t>
            </a:r>
            <a:r>
              <a:rPr lang="en-US" sz="2000" dirty="0" err="1">
                <a:latin typeface="Aptos Display (Headings)"/>
              </a:rPr>
              <a:t>đo</a:t>
            </a:r>
            <a:r>
              <a:rPr lang="en-US" sz="2000" dirty="0">
                <a:latin typeface="Aptos Display (Headings)"/>
              </a:rPr>
              <a:t> </a:t>
            </a:r>
            <a:r>
              <a:rPr lang="en-US" sz="2000" dirty="0" err="1">
                <a:latin typeface="Aptos Display (Headings)"/>
              </a:rPr>
              <a:t>thời</a:t>
            </a:r>
            <a:r>
              <a:rPr lang="en-US" sz="2000" dirty="0">
                <a:latin typeface="Aptos Display (Headings)"/>
              </a:rPr>
              <a:t> </a:t>
            </a:r>
            <a:r>
              <a:rPr lang="en-US" sz="2000" dirty="0" err="1">
                <a:latin typeface="Aptos Display (Headings)"/>
              </a:rPr>
              <a:t>gian</a:t>
            </a:r>
            <a:r>
              <a:rPr lang="en-US" sz="2000" dirty="0">
                <a:latin typeface="Aptos Display (Headings)"/>
              </a:rPr>
              <a:t> echo quay </a:t>
            </a:r>
            <a:r>
              <a:rPr lang="en-US" sz="2000" dirty="0" err="1">
                <a:latin typeface="Aptos Display (Headings)"/>
              </a:rPr>
              <a:t>về</a:t>
            </a:r>
            <a:r>
              <a:rPr lang="en-US" sz="2000" dirty="0">
                <a:latin typeface="Aptos Display (Headings)"/>
              </a:rPr>
              <a:t> </a:t>
            </a:r>
            <a:r>
              <a:rPr lang="en-US" sz="2000" dirty="0" err="1">
                <a:latin typeface="Aptos Display (Headings)"/>
              </a:rPr>
              <a:t>và</a:t>
            </a:r>
            <a:r>
              <a:rPr lang="en-US" sz="2000" dirty="0">
                <a:latin typeface="Aptos Display (Headings)"/>
              </a:rPr>
              <a:t> </a:t>
            </a:r>
            <a:r>
              <a:rPr lang="en-US" sz="2000" b="1" dirty="0" err="1">
                <a:latin typeface="Aptos Display (Headings)"/>
              </a:rPr>
              <a:t>vẽ</a:t>
            </a:r>
            <a:r>
              <a:rPr lang="en-US" sz="2000" b="1" dirty="0">
                <a:latin typeface="Aptos Display (Headings)"/>
              </a:rPr>
              <a:t> </a:t>
            </a:r>
            <a:r>
              <a:rPr lang="en-US" sz="2000" b="1" dirty="0" err="1">
                <a:latin typeface="Aptos Display (Headings)"/>
              </a:rPr>
              <a:t>thành</a:t>
            </a:r>
            <a:r>
              <a:rPr lang="en-US" sz="2000" b="1" dirty="0">
                <a:latin typeface="Aptos Display (Headings)"/>
              </a:rPr>
              <a:t> </a:t>
            </a:r>
            <a:r>
              <a:rPr lang="en-US" sz="2000" b="1" dirty="0" err="1">
                <a:latin typeface="Aptos Display (Headings)"/>
              </a:rPr>
              <a:t>ảnh</a:t>
            </a:r>
            <a:r>
              <a:rPr lang="en-US" sz="2000" dirty="0">
                <a:latin typeface="Aptos Display (Headings)"/>
              </a:rPr>
              <a:t> </a:t>
            </a:r>
            <a:r>
              <a:rPr lang="en-US" sz="2000" dirty="0" err="1">
                <a:latin typeface="Aptos Display (Headings)"/>
              </a:rPr>
              <a:t>sáng</a:t>
            </a:r>
            <a:r>
              <a:rPr lang="en-US" sz="2000" dirty="0">
                <a:latin typeface="Aptos Display (Headings)"/>
              </a:rPr>
              <a:t>–</a:t>
            </a:r>
            <a:r>
              <a:rPr lang="en-US" sz="2000" dirty="0" err="1">
                <a:latin typeface="Aptos Display (Headings)"/>
              </a:rPr>
              <a:t>tối</a:t>
            </a:r>
            <a:endParaRPr lang="vi-VN" sz="2000" dirty="0">
              <a:latin typeface="Aptos Display (Headings)"/>
            </a:endParaRPr>
          </a:p>
          <a:p>
            <a:endParaRPr lang="en-US" sz="2400" dirty="0">
              <a:latin typeface="Aptos Display (Headings)"/>
            </a:endParaRPr>
          </a:p>
        </p:txBody>
      </p:sp>
      <p:sp>
        <p:nvSpPr>
          <p:cNvPr id="4" name="Date Placeholder 3">
            <a:extLst>
              <a:ext uri="{FF2B5EF4-FFF2-40B4-BE49-F238E27FC236}">
                <a16:creationId xmlns:a16="http://schemas.microsoft.com/office/drawing/2014/main" id="{651BD122-7A42-B04D-CEA3-3D9BDE983D4F}"/>
              </a:ext>
            </a:extLst>
          </p:cNvPr>
          <p:cNvSpPr>
            <a:spLocks noGrp="1"/>
          </p:cNvSpPr>
          <p:nvPr>
            <p:ph type="dt" sz="half" idx="10"/>
          </p:nvPr>
        </p:nvSpPr>
        <p:spPr/>
        <p:txBody>
          <a:bodyPr/>
          <a:lstStyle/>
          <a:p>
            <a:fld id="{DFDA44C5-FF49-4031-A1FF-6DFDFE7830D3}" type="datetime1">
              <a:rPr lang="vi-VN" smtClean="0"/>
              <a:t>30/10/2025</a:t>
            </a:fld>
            <a:endParaRPr lang="en-US"/>
          </a:p>
        </p:txBody>
      </p:sp>
      <p:sp>
        <p:nvSpPr>
          <p:cNvPr id="5" name="Slide Number Placeholder 4">
            <a:extLst>
              <a:ext uri="{FF2B5EF4-FFF2-40B4-BE49-F238E27FC236}">
                <a16:creationId xmlns:a16="http://schemas.microsoft.com/office/drawing/2014/main" id="{4ADB2B7C-E0C0-95F2-9632-3FFF16AE7F50}"/>
              </a:ext>
            </a:extLst>
          </p:cNvPr>
          <p:cNvSpPr>
            <a:spLocks noGrp="1"/>
          </p:cNvSpPr>
          <p:nvPr>
            <p:ph type="sldNum" sz="quarter" idx="12"/>
          </p:nvPr>
        </p:nvSpPr>
        <p:spPr/>
        <p:txBody>
          <a:bodyPr/>
          <a:lstStyle/>
          <a:p>
            <a:fld id="{18465823-24DD-4389-90AD-EB96B0370D37}" type="slidenum">
              <a:rPr lang="en-US" smtClean="0"/>
              <a:t>5</a:t>
            </a:fld>
            <a:endParaRPr lang="en-US"/>
          </a:p>
        </p:txBody>
      </p:sp>
      <p:pic>
        <p:nvPicPr>
          <p:cNvPr id="8" name="Picture 7">
            <a:extLst>
              <a:ext uri="{FF2B5EF4-FFF2-40B4-BE49-F238E27FC236}">
                <a16:creationId xmlns:a16="http://schemas.microsoft.com/office/drawing/2014/main" id="{DE5C3FE2-327D-57F2-F9B9-4C843C32F88C}"/>
              </a:ext>
            </a:extLst>
          </p:cNvPr>
          <p:cNvPicPr>
            <a:picLocks noChangeAspect="1"/>
          </p:cNvPicPr>
          <p:nvPr/>
        </p:nvPicPr>
        <p:blipFill>
          <a:blip r:embed="rId2"/>
          <a:stretch>
            <a:fillRect/>
          </a:stretch>
        </p:blipFill>
        <p:spPr>
          <a:xfrm>
            <a:off x="8000068" y="1335732"/>
            <a:ext cx="3659969" cy="2665562"/>
          </a:xfrm>
          <a:prstGeom prst="rect">
            <a:avLst/>
          </a:prstGeom>
        </p:spPr>
      </p:pic>
    </p:spTree>
    <p:extLst>
      <p:ext uri="{BB962C8B-B14F-4D97-AF65-F5344CB8AC3E}">
        <p14:creationId xmlns:p14="http://schemas.microsoft.com/office/powerpoint/2010/main" val="373919964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03013E-A008-3E17-C726-2818DCBB524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670265A-C50D-7FE1-3002-61727C38AEFA}"/>
              </a:ext>
            </a:extLst>
          </p:cNvPr>
          <p:cNvSpPr>
            <a:spLocks noGrp="1"/>
          </p:cNvSpPr>
          <p:nvPr>
            <p:ph type="title"/>
          </p:nvPr>
        </p:nvSpPr>
        <p:spPr/>
        <p:txBody>
          <a:bodyPr/>
          <a:lstStyle/>
          <a:p>
            <a:r>
              <a:rPr lang="vi-VN" dirty="0">
                <a:latin typeface="Aptos Display (Headings)"/>
              </a:rPr>
              <a:t>Cơ sở kỹ thuật</a:t>
            </a:r>
            <a:endParaRPr lang="en-US" dirty="0">
              <a:latin typeface="Aptos Display (Headings)"/>
            </a:endParaRPr>
          </a:p>
        </p:txBody>
      </p:sp>
      <p:sp>
        <p:nvSpPr>
          <p:cNvPr id="3" name="Content Placeholder 2">
            <a:extLst>
              <a:ext uri="{FF2B5EF4-FFF2-40B4-BE49-F238E27FC236}">
                <a16:creationId xmlns:a16="http://schemas.microsoft.com/office/drawing/2014/main" id="{08D86431-52F4-D0E3-2922-67A61DB639FC}"/>
              </a:ext>
            </a:extLst>
          </p:cNvPr>
          <p:cNvSpPr>
            <a:spLocks noGrp="1"/>
          </p:cNvSpPr>
          <p:nvPr>
            <p:ph idx="1"/>
          </p:nvPr>
        </p:nvSpPr>
        <p:spPr/>
        <p:txBody>
          <a:bodyPr>
            <a:normAutofit fontScale="92500"/>
          </a:bodyPr>
          <a:lstStyle/>
          <a:p>
            <a:pPr algn="just"/>
            <a:r>
              <a:rPr lang="vi-VN" sz="2400" b="1" dirty="0">
                <a:latin typeface="Aptos Display (Headings)"/>
              </a:rPr>
              <a:t>Module cảm biến cận hồng ngoại </a:t>
            </a:r>
            <a:r>
              <a:rPr lang="vi-VN" sz="2400" dirty="0">
                <a:latin typeface="Aptos Display (Headings)"/>
              </a:rPr>
              <a:t>(</a:t>
            </a:r>
            <a:r>
              <a:rPr lang="en-US" sz="2400" dirty="0">
                <a:latin typeface="Aptos Display (Headings)"/>
              </a:rPr>
              <a:t>Near-infrared spectroscopy</a:t>
            </a:r>
            <a:r>
              <a:rPr lang="vi-VN" sz="2400" dirty="0">
                <a:latin typeface="Aptos Display (Headings)"/>
              </a:rPr>
              <a:t> - NIRS)</a:t>
            </a:r>
          </a:p>
          <a:p>
            <a:pPr algn="just"/>
            <a:r>
              <a:rPr lang="vi-VN" sz="2400" dirty="0">
                <a:latin typeface="Aptos Display (Headings)"/>
              </a:rPr>
              <a:t>Thông số đo: Phổ hấp thụ ánh sáng</a:t>
            </a:r>
          </a:p>
          <a:p>
            <a:pPr algn="just"/>
            <a:r>
              <a:rPr lang="vi-VN" sz="2400" dirty="0">
                <a:latin typeface="Aptos Display (Headings)"/>
              </a:rPr>
              <a:t>Ý nghĩa sinh học: </a:t>
            </a:r>
          </a:p>
          <a:p>
            <a:pPr lvl="1" algn="just"/>
            <a:r>
              <a:rPr lang="vi-VN" sz="1800" b="1" dirty="0">
                <a:latin typeface="Aptos Display (Headings)"/>
              </a:rPr>
              <a:t>Cơ có đủ oxy không?</a:t>
            </a:r>
            <a:r>
              <a:rPr lang="vi-VN" sz="1800" dirty="0">
                <a:latin typeface="Aptos Display (Headings)"/>
              </a:rPr>
              <a:t> StO₂ giảm sâu/lâu → thiếu cung cấp; hồi phục chậm sau gắng sức → tưới máu kém hoặc tiêu thụ cao</a:t>
            </a:r>
          </a:p>
          <a:p>
            <a:pPr lvl="1" algn="just"/>
            <a:r>
              <a:rPr lang="vi-VN" sz="1800" b="1" dirty="0">
                <a:latin typeface="Aptos Display (Headings)"/>
              </a:rPr>
              <a:t>Máu đến cơ thay đổi thế nào?</a:t>
            </a:r>
            <a:r>
              <a:rPr lang="vi-VN" sz="1800" dirty="0">
                <a:latin typeface="Aptos Display (Headings)"/>
              </a:rPr>
              <a:t> Tăng khi giãn mạch/tái tưới máu, giảm khi garo/lạnh</a:t>
            </a:r>
            <a:endParaRPr lang="vi-VN" dirty="0">
              <a:latin typeface="Aptos Display (Headings)"/>
            </a:endParaRPr>
          </a:p>
          <a:p>
            <a:pPr algn="just"/>
            <a:r>
              <a:rPr lang="vi-VN" sz="2400" dirty="0">
                <a:latin typeface="Aptos Display (Headings)"/>
              </a:rPr>
              <a:t>Nguyên lý hoạt động:</a:t>
            </a:r>
          </a:p>
          <a:p>
            <a:pPr lvl="1" algn="just"/>
            <a:r>
              <a:rPr lang="vi-VN" b="1" dirty="0">
                <a:latin typeface="Aptos Display (Headings)"/>
              </a:rPr>
              <a:t>Phát:</a:t>
            </a:r>
            <a:r>
              <a:rPr lang="vi-VN" dirty="0">
                <a:latin typeface="Aptos Display (Headings)"/>
              </a:rPr>
              <a:t> LED cận hồng ngoại (≈700–900 nm) chiếu vào vùng cơ (bật/tắt từng bước sóng)</a:t>
            </a:r>
          </a:p>
          <a:p>
            <a:pPr lvl="1" algn="just"/>
            <a:r>
              <a:rPr lang="vi-VN" b="1" dirty="0">
                <a:latin typeface="Aptos Display (Headings)"/>
              </a:rPr>
              <a:t>Trong mô:</a:t>
            </a:r>
            <a:r>
              <a:rPr lang="vi-VN" dirty="0">
                <a:latin typeface="Aptos Display (Headings)"/>
              </a:rPr>
              <a:t> Ánh sáng </a:t>
            </a:r>
            <a:r>
              <a:rPr lang="vi-VN" b="1" dirty="0">
                <a:latin typeface="Aptos Display (Headings)"/>
              </a:rPr>
              <a:t>bị tán xạ và hấp thụ</a:t>
            </a:r>
            <a:r>
              <a:rPr lang="vi-VN" dirty="0">
                <a:latin typeface="Aptos Display (Headings)"/>
              </a:rPr>
              <a:t> khác nhau bởi HbO₂/Hb, nước, mỡ… </a:t>
            </a:r>
          </a:p>
          <a:p>
            <a:pPr lvl="1" algn="just"/>
            <a:r>
              <a:rPr lang="vi-VN" b="1" dirty="0">
                <a:latin typeface="Aptos Display (Headings)"/>
              </a:rPr>
              <a:t>Thu &amp; tính:</a:t>
            </a:r>
            <a:r>
              <a:rPr lang="vi-VN" dirty="0">
                <a:latin typeface="Aptos Display (Headings)"/>
              </a:rPr>
              <a:t> Photodiode </a:t>
            </a:r>
            <a:r>
              <a:rPr lang="vi-VN" b="1" dirty="0">
                <a:latin typeface="Aptos Display (Headings)"/>
              </a:rPr>
              <a:t>thu ánh sáng phản xạ</a:t>
            </a:r>
            <a:r>
              <a:rPr lang="vi-VN" dirty="0">
                <a:latin typeface="Aptos Display (Headings)"/>
              </a:rPr>
              <a:t>; so sánh cường độ giữa các bước sóng → suy ra </a:t>
            </a:r>
            <a:r>
              <a:rPr lang="vi-VN" b="1" dirty="0">
                <a:latin typeface="Aptos Display (Headings)"/>
              </a:rPr>
              <a:t>StO₂ (bão hoà oxy mô)</a:t>
            </a:r>
            <a:r>
              <a:rPr lang="vi-VN" dirty="0">
                <a:latin typeface="Aptos Display (Headings)"/>
              </a:rPr>
              <a:t>, </a:t>
            </a:r>
            <a:r>
              <a:rPr lang="el-GR" b="1" dirty="0">
                <a:latin typeface="Aptos Display (Headings)"/>
              </a:rPr>
              <a:t>Δ</a:t>
            </a:r>
            <a:r>
              <a:rPr lang="vi-VN" b="1" dirty="0">
                <a:latin typeface="Aptos Display (Headings)"/>
              </a:rPr>
              <a:t>HbO₂/</a:t>
            </a:r>
            <a:r>
              <a:rPr lang="el-GR" b="1" dirty="0">
                <a:latin typeface="Aptos Display (Headings)"/>
              </a:rPr>
              <a:t>Δ</a:t>
            </a:r>
            <a:r>
              <a:rPr lang="vi-VN" b="1" dirty="0">
                <a:latin typeface="Aptos Display (Headings)"/>
              </a:rPr>
              <a:t>Hb</a:t>
            </a:r>
            <a:r>
              <a:rPr lang="vi-VN" dirty="0">
                <a:latin typeface="Aptos Display (Headings)"/>
              </a:rPr>
              <a:t>, và </a:t>
            </a:r>
            <a:r>
              <a:rPr lang="vi-VN" b="1" dirty="0">
                <a:latin typeface="Aptos Display (Headings)"/>
              </a:rPr>
              <a:t>xu hướng tưới máu</a:t>
            </a:r>
            <a:r>
              <a:rPr lang="vi-VN" dirty="0">
                <a:latin typeface="Aptos Display (Headings)"/>
              </a:rPr>
              <a:t> theo thời gian. 	</a:t>
            </a:r>
          </a:p>
          <a:p>
            <a:pPr algn="just"/>
            <a:endParaRPr lang="vi-VN" sz="2400" dirty="0">
              <a:latin typeface="Aptos Display (Headings)"/>
            </a:endParaRPr>
          </a:p>
          <a:p>
            <a:pPr algn="just"/>
            <a:endParaRPr lang="en-US" sz="2400" dirty="0">
              <a:latin typeface="Aptos Display (Headings)"/>
            </a:endParaRPr>
          </a:p>
        </p:txBody>
      </p:sp>
      <p:sp>
        <p:nvSpPr>
          <p:cNvPr id="4" name="Date Placeholder 3">
            <a:extLst>
              <a:ext uri="{FF2B5EF4-FFF2-40B4-BE49-F238E27FC236}">
                <a16:creationId xmlns:a16="http://schemas.microsoft.com/office/drawing/2014/main" id="{CDE1E18C-2F2C-1262-4B8B-6883E05C2EE4}"/>
              </a:ext>
            </a:extLst>
          </p:cNvPr>
          <p:cNvSpPr>
            <a:spLocks noGrp="1"/>
          </p:cNvSpPr>
          <p:nvPr>
            <p:ph type="dt" sz="half" idx="10"/>
          </p:nvPr>
        </p:nvSpPr>
        <p:spPr/>
        <p:txBody>
          <a:bodyPr/>
          <a:lstStyle/>
          <a:p>
            <a:fld id="{DFDA44C5-FF49-4031-A1FF-6DFDFE7830D3}" type="datetime1">
              <a:rPr lang="vi-VN" smtClean="0"/>
              <a:t>30/10/2025</a:t>
            </a:fld>
            <a:endParaRPr lang="en-US"/>
          </a:p>
        </p:txBody>
      </p:sp>
      <p:sp>
        <p:nvSpPr>
          <p:cNvPr id="5" name="Slide Number Placeholder 4">
            <a:extLst>
              <a:ext uri="{FF2B5EF4-FFF2-40B4-BE49-F238E27FC236}">
                <a16:creationId xmlns:a16="http://schemas.microsoft.com/office/drawing/2014/main" id="{79FDE269-AE77-FFEF-73F5-AF4B113629EF}"/>
              </a:ext>
            </a:extLst>
          </p:cNvPr>
          <p:cNvSpPr>
            <a:spLocks noGrp="1"/>
          </p:cNvSpPr>
          <p:nvPr>
            <p:ph type="sldNum" sz="quarter" idx="12"/>
          </p:nvPr>
        </p:nvSpPr>
        <p:spPr/>
        <p:txBody>
          <a:bodyPr/>
          <a:lstStyle/>
          <a:p>
            <a:fld id="{18465823-24DD-4389-90AD-EB96B0370D37}" type="slidenum">
              <a:rPr lang="en-US" smtClean="0"/>
              <a:t>6</a:t>
            </a:fld>
            <a:endParaRPr lang="en-US"/>
          </a:p>
        </p:txBody>
      </p:sp>
    </p:spTree>
    <p:extLst>
      <p:ext uri="{BB962C8B-B14F-4D97-AF65-F5344CB8AC3E}">
        <p14:creationId xmlns:p14="http://schemas.microsoft.com/office/powerpoint/2010/main" val="377543556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7BE435-42CA-9B79-D085-EBE8D5E33A9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E5E386A-F5A4-A75B-F641-AC88EA747644}"/>
              </a:ext>
            </a:extLst>
          </p:cNvPr>
          <p:cNvSpPr>
            <a:spLocks noGrp="1"/>
          </p:cNvSpPr>
          <p:nvPr>
            <p:ph type="title"/>
          </p:nvPr>
        </p:nvSpPr>
        <p:spPr/>
        <p:txBody>
          <a:bodyPr/>
          <a:lstStyle/>
          <a:p>
            <a:r>
              <a:rPr lang="vi-VN" dirty="0">
                <a:latin typeface="Aptos Display (Headings)"/>
              </a:rPr>
              <a:t>Cơ sở kỹ thuật</a:t>
            </a:r>
            <a:endParaRPr lang="en-US" dirty="0">
              <a:latin typeface="Aptos Display (Headings)"/>
            </a:endParaRPr>
          </a:p>
        </p:txBody>
      </p:sp>
      <p:sp>
        <p:nvSpPr>
          <p:cNvPr id="3" name="Content Placeholder 2">
            <a:extLst>
              <a:ext uri="{FF2B5EF4-FFF2-40B4-BE49-F238E27FC236}">
                <a16:creationId xmlns:a16="http://schemas.microsoft.com/office/drawing/2014/main" id="{9B1BA59E-0D46-7190-2D37-FAC1A9DD2D97}"/>
              </a:ext>
            </a:extLst>
          </p:cNvPr>
          <p:cNvSpPr>
            <a:spLocks noGrp="1"/>
          </p:cNvSpPr>
          <p:nvPr>
            <p:ph idx="1"/>
          </p:nvPr>
        </p:nvSpPr>
        <p:spPr/>
        <p:txBody>
          <a:bodyPr>
            <a:normAutofit/>
          </a:bodyPr>
          <a:lstStyle/>
          <a:p>
            <a:r>
              <a:rPr lang="vi-VN" sz="2000" b="1" dirty="0">
                <a:latin typeface="Aptos Display (Headings)"/>
              </a:rPr>
              <a:t>Module cảm biến điện trở kháng cơ </a:t>
            </a:r>
            <a:r>
              <a:rPr lang="vi-VN" sz="2000" dirty="0">
                <a:latin typeface="Aptos Display (Headings)"/>
              </a:rPr>
              <a:t>(EIM - </a:t>
            </a:r>
            <a:r>
              <a:rPr lang="en-US" sz="2000" dirty="0">
                <a:latin typeface="Aptos Display (Headings)"/>
              </a:rPr>
              <a:t>Electrical Impedance </a:t>
            </a:r>
            <a:r>
              <a:rPr lang="vi-VN" sz="2000" dirty="0">
                <a:latin typeface="Aptos Display (Headings)"/>
              </a:rPr>
              <a:t>Myography)</a:t>
            </a:r>
            <a:endParaRPr lang="vi-VN" sz="2000" b="1" dirty="0">
              <a:latin typeface="Aptos Display (Headings)"/>
            </a:endParaRPr>
          </a:p>
          <a:p>
            <a:r>
              <a:rPr lang="vi-VN" sz="2000" dirty="0">
                <a:latin typeface="Aptos Display (Headings)"/>
              </a:rPr>
              <a:t>Thông số đo: Trở kháng điện mô - cơ</a:t>
            </a:r>
          </a:p>
          <a:p>
            <a:r>
              <a:rPr lang="vi-VN" sz="2000" dirty="0">
                <a:latin typeface="Aptos Display (Headings)"/>
              </a:rPr>
              <a:t>Ý nghĩa sinh học: Độ sơ hóa phù nề và tính toàn vẹn tế bào </a:t>
            </a:r>
            <a:r>
              <a:rPr lang="vi-VN" sz="2000" dirty="0"/>
              <a:t>→ chất lượng sợi cơ</a:t>
            </a:r>
          </a:p>
          <a:p>
            <a:r>
              <a:rPr lang="vi-VN" sz="2000" dirty="0">
                <a:latin typeface="Aptos Display (Headings)"/>
              </a:rPr>
              <a:t>Nguyên lý hoạt động: </a:t>
            </a:r>
          </a:p>
          <a:p>
            <a:pPr lvl="1"/>
            <a:r>
              <a:rPr lang="vi-VN" sz="1600" dirty="0"/>
              <a:t>Cho </a:t>
            </a:r>
            <a:r>
              <a:rPr lang="vi-VN" sz="1600" b="1" dirty="0"/>
              <a:t>dòng điện xoay chiều rất nhỏ</a:t>
            </a:r>
            <a:r>
              <a:rPr lang="vi-VN" sz="1600" dirty="0"/>
              <a:t> chạy qua vùng cơ → đo điện áp đáp ứng → tính các chỉ số:</a:t>
            </a:r>
          </a:p>
          <a:p>
            <a:pPr lvl="1"/>
            <a:r>
              <a:rPr lang="vi-VN" sz="1600" dirty="0"/>
              <a:t>R (điện trở), Xc (điện kháng), |Z| và góc pha (</a:t>
            </a:r>
            <a:r>
              <a:rPr lang="el-GR" sz="1600" dirty="0"/>
              <a:t>φ); </a:t>
            </a:r>
            <a:r>
              <a:rPr lang="vi-VN" sz="1600" dirty="0"/>
              <a:t>thường đo đa tần và nhiều hướng (dị hướng)</a:t>
            </a:r>
            <a:endParaRPr lang="vi-VN" sz="1600" dirty="0">
              <a:latin typeface="Aptos Display (Headings)"/>
            </a:endParaRPr>
          </a:p>
          <a:p>
            <a:endParaRPr lang="en-US" sz="2000" dirty="0">
              <a:latin typeface="Aptos Display (Headings)"/>
            </a:endParaRPr>
          </a:p>
        </p:txBody>
      </p:sp>
      <p:sp>
        <p:nvSpPr>
          <p:cNvPr id="4" name="Date Placeholder 3">
            <a:extLst>
              <a:ext uri="{FF2B5EF4-FFF2-40B4-BE49-F238E27FC236}">
                <a16:creationId xmlns:a16="http://schemas.microsoft.com/office/drawing/2014/main" id="{BAB5D60A-A6E6-E0F4-FF33-7C60DD80172E}"/>
              </a:ext>
            </a:extLst>
          </p:cNvPr>
          <p:cNvSpPr>
            <a:spLocks noGrp="1"/>
          </p:cNvSpPr>
          <p:nvPr>
            <p:ph type="dt" sz="half" idx="10"/>
          </p:nvPr>
        </p:nvSpPr>
        <p:spPr/>
        <p:txBody>
          <a:bodyPr/>
          <a:lstStyle/>
          <a:p>
            <a:fld id="{DFDA44C5-FF49-4031-A1FF-6DFDFE7830D3}" type="datetime1">
              <a:rPr lang="vi-VN" smtClean="0"/>
              <a:t>30/10/2025</a:t>
            </a:fld>
            <a:endParaRPr lang="en-US"/>
          </a:p>
        </p:txBody>
      </p:sp>
      <p:sp>
        <p:nvSpPr>
          <p:cNvPr id="5" name="Slide Number Placeholder 4">
            <a:extLst>
              <a:ext uri="{FF2B5EF4-FFF2-40B4-BE49-F238E27FC236}">
                <a16:creationId xmlns:a16="http://schemas.microsoft.com/office/drawing/2014/main" id="{A1CE8EDB-EC9F-DC52-56D1-F867A26AFD5B}"/>
              </a:ext>
            </a:extLst>
          </p:cNvPr>
          <p:cNvSpPr>
            <a:spLocks noGrp="1"/>
          </p:cNvSpPr>
          <p:nvPr>
            <p:ph type="sldNum" sz="quarter" idx="12"/>
          </p:nvPr>
        </p:nvSpPr>
        <p:spPr/>
        <p:txBody>
          <a:bodyPr/>
          <a:lstStyle/>
          <a:p>
            <a:fld id="{18465823-24DD-4389-90AD-EB96B0370D37}" type="slidenum">
              <a:rPr lang="en-US" smtClean="0"/>
              <a:t>7</a:t>
            </a:fld>
            <a:endParaRPr lang="en-US"/>
          </a:p>
        </p:txBody>
      </p:sp>
      <p:pic>
        <p:nvPicPr>
          <p:cNvPr id="8" name="Picture 7">
            <a:extLst>
              <a:ext uri="{FF2B5EF4-FFF2-40B4-BE49-F238E27FC236}">
                <a16:creationId xmlns:a16="http://schemas.microsoft.com/office/drawing/2014/main" id="{23808E71-D26A-8DB6-F145-47CAAD9C0AFF}"/>
              </a:ext>
            </a:extLst>
          </p:cNvPr>
          <p:cNvPicPr>
            <a:picLocks noChangeAspect="1"/>
          </p:cNvPicPr>
          <p:nvPr/>
        </p:nvPicPr>
        <p:blipFill>
          <a:blip r:embed="rId2"/>
          <a:stretch>
            <a:fillRect/>
          </a:stretch>
        </p:blipFill>
        <p:spPr>
          <a:xfrm>
            <a:off x="3003343" y="4001294"/>
            <a:ext cx="6185314" cy="2310606"/>
          </a:xfrm>
          <a:prstGeom prst="rect">
            <a:avLst/>
          </a:prstGeom>
        </p:spPr>
      </p:pic>
    </p:spTree>
    <p:extLst>
      <p:ext uri="{BB962C8B-B14F-4D97-AF65-F5344CB8AC3E}">
        <p14:creationId xmlns:p14="http://schemas.microsoft.com/office/powerpoint/2010/main" val="35468799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5A3982-F01F-A4F2-075B-1D170C20925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C5EE9FE-3E2B-8160-A075-8977EE187200}"/>
              </a:ext>
            </a:extLst>
          </p:cNvPr>
          <p:cNvSpPr>
            <a:spLocks noGrp="1"/>
          </p:cNvSpPr>
          <p:nvPr>
            <p:ph type="title"/>
          </p:nvPr>
        </p:nvSpPr>
        <p:spPr/>
        <p:txBody>
          <a:bodyPr/>
          <a:lstStyle/>
          <a:p>
            <a:r>
              <a:rPr lang="vi-VN" dirty="0">
                <a:latin typeface="Aptos Display (Headings)"/>
              </a:rPr>
              <a:t>Cơ sở kỹ thuật</a:t>
            </a:r>
            <a:endParaRPr lang="en-US" dirty="0">
              <a:latin typeface="Aptos Display (Headings)"/>
            </a:endParaRPr>
          </a:p>
        </p:txBody>
      </p:sp>
      <p:sp>
        <p:nvSpPr>
          <p:cNvPr id="3" name="Content Placeholder 2">
            <a:extLst>
              <a:ext uri="{FF2B5EF4-FFF2-40B4-BE49-F238E27FC236}">
                <a16:creationId xmlns:a16="http://schemas.microsoft.com/office/drawing/2014/main" id="{5A4C9B5B-CB3E-0B02-B81A-E9EF36D32E90}"/>
              </a:ext>
            </a:extLst>
          </p:cNvPr>
          <p:cNvSpPr>
            <a:spLocks noGrp="1"/>
          </p:cNvSpPr>
          <p:nvPr>
            <p:ph idx="1"/>
          </p:nvPr>
        </p:nvSpPr>
        <p:spPr/>
        <p:txBody>
          <a:bodyPr>
            <a:normAutofit/>
          </a:bodyPr>
          <a:lstStyle/>
          <a:p>
            <a:r>
              <a:rPr lang="vi-VN" sz="2000" b="1" dirty="0">
                <a:latin typeface="Aptos Display (Headings)"/>
              </a:rPr>
              <a:t>Module Indentometer</a:t>
            </a:r>
          </a:p>
          <a:p>
            <a:r>
              <a:rPr lang="vi-VN" sz="2000" dirty="0">
                <a:latin typeface="Aptos Display (Headings)"/>
              </a:rPr>
              <a:t>Thông số đo: Lực/ Độ sâu - lún</a:t>
            </a:r>
          </a:p>
          <a:p>
            <a:r>
              <a:rPr lang="vi-VN" sz="2000" dirty="0">
                <a:latin typeface="Aptos Display (Headings)"/>
              </a:rPr>
              <a:t>Ý nghĩa sinh học: Độ cứng cơ liên quan đến sơ hóa và trương lực 	</a:t>
            </a:r>
          </a:p>
          <a:p>
            <a:r>
              <a:rPr lang="vi-VN" sz="2000" dirty="0">
                <a:latin typeface="Aptos Display (Headings)"/>
              </a:rPr>
              <a:t>Nguyên lý hoạt động: </a:t>
            </a:r>
            <a:r>
              <a:rPr lang="en-US" sz="2000" b="1" dirty="0" err="1">
                <a:latin typeface="Aptos Display (Headings)"/>
              </a:rPr>
              <a:t>Cảm</a:t>
            </a:r>
            <a:r>
              <a:rPr lang="en-US" sz="2000" b="1" dirty="0">
                <a:latin typeface="Aptos Display (Headings)"/>
              </a:rPr>
              <a:t> </a:t>
            </a:r>
            <a:r>
              <a:rPr lang="en-US" sz="2000" b="1" dirty="0" err="1">
                <a:latin typeface="Aptos Display (Headings)"/>
              </a:rPr>
              <a:t>biến</a:t>
            </a:r>
            <a:r>
              <a:rPr lang="en-US" sz="2000" b="1" dirty="0">
                <a:latin typeface="Aptos Display (Headings)"/>
              </a:rPr>
              <a:t> </a:t>
            </a:r>
            <a:r>
              <a:rPr lang="en-US" sz="2000" b="1" dirty="0" err="1">
                <a:latin typeface="Aptos Display (Headings)"/>
              </a:rPr>
              <a:t>đo</a:t>
            </a:r>
            <a:r>
              <a:rPr lang="en-US" sz="2000" b="1" dirty="0">
                <a:latin typeface="Aptos Display (Headings)"/>
              </a:rPr>
              <a:t>:</a:t>
            </a:r>
            <a:r>
              <a:rPr lang="en-US" sz="2000" dirty="0">
                <a:latin typeface="Aptos Display (Headings)"/>
              </a:rPr>
              <a:t> </a:t>
            </a:r>
            <a:r>
              <a:rPr lang="en-US" sz="2000" b="1" dirty="0">
                <a:latin typeface="Aptos Display (Headings)"/>
              </a:rPr>
              <a:t>load cell</a:t>
            </a:r>
            <a:r>
              <a:rPr lang="en-US" sz="2000" dirty="0">
                <a:latin typeface="Aptos Display (Headings)"/>
              </a:rPr>
              <a:t> </a:t>
            </a:r>
            <a:r>
              <a:rPr lang="en-US" sz="2000" dirty="0" err="1">
                <a:latin typeface="Aptos Display (Headings)"/>
              </a:rPr>
              <a:t>ghi</a:t>
            </a:r>
            <a:r>
              <a:rPr lang="en-US" sz="2000" dirty="0">
                <a:latin typeface="Aptos Display (Headings)"/>
              </a:rPr>
              <a:t> </a:t>
            </a:r>
            <a:r>
              <a:rPr lang="en-US" sz="2000" dirty="0" err="1">
                <a:latin typeface="Aptos Display (Headings)"/>
              </a:rPr>
              <a:t>lực</a:t>
            </a:r>
            <a:r>
              <a:rPr lang="en-US" sz="2000" dirty="0">
                <a:latin typeface="Aptos Display (Headings)"/>
              </a:rPr>
              <a:t>, </a:t>
            </a:r>
            <a:r>
              <a:rPr lang="en-US" sz="2000" b="1" dirty="0" err="1">
                <a:latin typeface="Aptos Display (Headings)"/>
              </a:rPr>
              <a:t>cảm</a:t>
            </a:r>
            <a:r>
              <a:rPr lang="en-US" sz="2000" b="1" dirty="0">
                <a:latin typeface="Aptos Display (Headings)"/>
              </a:rPr>
              <a:t> </a:t>
            </a:r>
            <a:r>
              <a:rPr lang="en-US" sz="2000" b="1" dirty="0" err="1">
                <a:latin typeface="Aptos Display (Headings)"/>
              </a:rPr>
              <a:t>biến</a:t>
            </a:r>
            <a:r>
              <a:rPr lang="en-US" sz="2000" b="1" dirty="0">
                <a:latin typeface="Aptos Display (Headings)"/>
              </a:rPr>
              <a:t> </a:t>
            </a:r>
            <a:r>
              <a:rPr lang="en-US" sz="2000" b="1" dirty="0" err="1">
                <a:latin typeface="Aptos Display (Headings)"/>
              </a:rPr>
              <a:t>dịch</a:t>
            </a:r>
            <a:r>
              <a:rPr lang="en-US" sz="2000" b="1" dirty="0">
                <a:latin typeface="Aptos Display (Headings)"/>
              </a:rPr>
              <a:t> </a:t>
            </a:r>
            <a:r>
              <a:rPr lang="en-US" sz="2000" b="1" dirty="0" err="1">
                <a:latin typeface="Aptos Display (Headings)"/>
              </a:rPr>
              <a:t>chuyển</a:t>
            </a:r>
            <a:r>
              <a:rPr lang="en-US" sz="2000" dirty="0">
                <a:latin typeface="Aptos Display (Headings)"/>
              </a:rPr>
              <a:t> (LVDT/optical) </a:t>
            </a:r>
            <a:r>
              <a:rPr lang="en-US" sz="2000" dirty="0" err="1">
                <a:latin typeface="Aptos Display (Headings)"/>
              </a:rPr>
              <a:t>ghi</a:t>
            </a:r>
            <a:r>
              <a:rPr lang="en-US" sz="2000" dirty="0">
                <a:latin typeface="Aptos Display (Headings)"/>
              </a:rPr>
              <a:t> </a:t>
            </a:r>
            <a:r>
              <a:rPr lang="en-US" sz="2000" b="1" dirty="0" err="1">
                <a:latin typeface="Aptos Display (Headings)"/>
              </a:rPr>
              <a:t>độ</a:t>
            </a:r>
            <a:r>
              <a:rPr lang="en-US" sz="2000" b="1" dirty="0">
                <a:latin typeface="Aptos Display (Headings)"/>
              </a:rPr>
              <a:t> </a:t>
            </a:r>
            <a:r>
              <a:rPr lang="en-US" sz="2000" b="1" dirty="0" err="1">
                <a:latin typeface="Aptos Display (Headings)"/>
              </a:rPr>
              <a:t>lún</a:t>
            </a:r>
            <a:r>
              <a:rPr lang="en-US" sz="2000" b="1" dirty="0">
                <a:latin typeface="Aptos Display (Headings)"/>
              </a:rPr>
              <a:t> </a:t>
            </a:r>
            <a:r>
              <a:rPr lang="en-US" sz="2000" b="1" dirty="0" err="1">
                <a:latin typeface="Aptos Display (Headings)"/>
              </a:rPr>
              <a:t>theo</a:t>
            </a:r>
            <a:r>
              <a:rPr lang="en-US" sz="2000" b="1" dirty="0">
                <a:latin typeface="Aptos Display (Headings)"/>
              </a:rPr>
              <a:t> </a:t>
            </a:r>
            <a:r>
              <a:rPr lang="en-US" sz="2000" b="1" dirty="0" err="1">
                <a:latin typeface="Aptos Display (Headings)"/>
              </a:rPr>
              <a:t>thời</a:t>
            </a:r>
            <a:r>
              <a:rPr lang="en-US" sz="2000" b="1" dirty="0">
                <a:latin typeface="Aptos Display (Headings)"/>
              </a:rPr>
              <a:t> </a:t>
            </a:r>
            <a:r>
              <a:rPr lang="en-US" sz="2000" b="1" dirty="0" err="1">
                <a:latin typeface="Aptos Display (Headings)"/>
              </a:rPr>
              <a:t>gian</a:t>
            </a:r>
            <a:r>
              <a:rPr lang="en-US" sz="2000" dirty="0">
                <a:latin typeface="Aptos Display (Headings)"/>
              </a:rPr>
              <a:t>.</a:t>
            </a:r>
            <a:endParaRPr lang="vi-VN" sz="2000" dirty="0">
              <a:latin typeface="Aptos Display (Headings)"/>
            </a:endParaRPr>
          </a:p>
          <a:p>
            <a:endParaRPr lang="en-US" sz="2000" dirty="0">
              <a:latin typeface="Aptos Display (Headings)"/>
            </a:endParaRPr>
          </a:p>
        </p:txBody>
      </p:sp>
      <p:sp>
        <p:nvSpPr>
          <p:cNvPr id="4" name="Date Placeholder 3">
            <a:extLst>
              <a:ext uri="{FF2B5EF4-FFF2-40B4-BE49-F238E27FC236}">
                <a16:creationId xmlns:a16="http://schemas.microsoft.com/office/drawing/2014/main" id="{0ADD6C4A-6F52-CA20-AF3A-2FE242FCA9B0}"/>
              </a:ext>
            </a:extLst>
          </p:cNvPr>
          <p:cNvSpPr>
            <a:spLocks noGrp="1"/>
          </p:cNvSpPr>
          <p:nvPr>
            <p:ph type="dt" sz="half" idx="10"/>
          </p:nvPr>
        </p:nvSpPr>
        <p:spPr/>
        <p:txBody>
          <a:bodyPr/>
          <a:lstStyle/>
          <a:p>
            <a:fld id="{DFDA44C5-FF49-4031-A1FF-6DFDFE7830D3}" type="datetime1">
              <a:rPr lang="vi-VN" smtClean="0"/>
              <a:t>30/10/2025</a:t>
            </a:fld>
            <a:endParaRPr lang="en-US"/>
          </a:p>
        </p:txBody>
      </p:sp>
      <p:sp>
        <p:nvSpPr>
          <p:cNvPr id="5" name="Slide Number Placeholder 4">
            <a:extLst>
              <a:ext uri="{FF2B5EF4-FFF2-40B4-BE49-F238E27FC236}">
                <a16:creationId xmlns:a16="http://schemas.microsoft.com/office/drawing/2014/main" id="{95825909-1AF0-F039-3F1B-A4A7D75B7696}"/>
              </a:ext>
            </a:extLst>
          </p:cNvPr>
          <p:cNvSpPr>
            <a:spLocks noGrp="1"/>
          </p:cNvSpPr>
          <p:nvPr>
            <p:ph type="sldNum" sz="quarter" idx="12"/>
          </p:nvPr>
        </p:nvSpPr>
        <p:spPr/>
        <p:txBody>
          <a:bodyPr/>
          <a:lstStyle/>
          <a:p>
            <a:fld id="{18465823-24DD-4389-90AD-EB96B0370D37}" type="slidenum">
              <a:rPr lang="en-US" smtClean="0"/>
              <a:t>8</a:t>
            </a:fld>
            <a:endParaRPr lang="en-US"/>
          </a:p>
        </p:txBody>
      </p:sp>
      <p:pic>
        <p:nvPicPr>
          <p:cNvPr id="8" name="Picture 7">
            <a:extLst>
              <a:ext uri="{FF2B5EF4-FFF2-40B4-BE49-F238E27FC236}">
                <a16:creationId xmlns:a16="http://schemas.microsoft.com/office/drawing/2014/main" id="{39772A3D-0717-2F19-90FC-38ABE58BBD20}"/>
              </a:ext>
            </a:extLst>
          </p:cNvPr>
          <p:cNvPicPr>
            <a:picLocks noChangeAspect="1"/>
          </p:cNvPicPr>
          <p:nvPr/>
        </p:nvPicPr>
        <p:blipFill>
          <a:blip r:embed="rId2"/>
          <a:stretch>
            <a:fillRect/>
          </a:stretch>
        </p:blipFill>
        <p:spPr>
          <a:xfrm>
            <a:off x="2641301" y="3665929"/>
            <a:ext cx="6909398" cy="2600728"/>
          </a:xfrm>
          <a:prstGeom prst="rect">
            <a:avLst/>
          </a:prstGeom>
        </p:spPr>
      </p:pic>
    </p:spTree>
    <p:extLst>
      <p:ext uri="{BB962C8B-B14F-4D97-AF65-F5344CB8AC3E}">
        <p14:creationId xmlns:p14="http://schemas.microsoft.com/office/powerpoint/2010/main" val="206672184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2D0047-1A8F-DFF3-2405-5FF19EAB6A7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F847501-0CA3-8031-9FFA-E0A38313DA70}"/>
              </a:ext>
            </a:extLst>
          </p:cNvPr>
          <p:cNvSpPr>
            <a:spLocks noGrp="1"/>
          </p:cNvSpPr>
          <p:nvPr>
            <p:ph type="title"/>
          </p:nvPr>
        </p:nvSpPr>
        <p:spPr/>
        <p:txBody>
          <a:bodyPr/>
          <a:lstStyle/>
          <a:p>
            <a:r>
              <a:rPr lang="vi-VN" dirty="0">
                <a:latin typeface="Aptos Display (Headings)"/>
              </a:rPr>
              <a:t>Cơ sở kỹ thuật</a:t>
            </a:r>
            <a:endParaRPr lang="en-US" dirty="0">
              <a:latin typeface="Aptos Display (Headings)"/>
            </a:endParaRPr>
          </a:p>
        </p:txBody>
      </p:sp>
      <p:sp>
        <p:nvSpPr>
          <p:cNvPr id="3" name="Content Placeholder 2">
            <a:extLst>
              <a:ext uri="{FF2B5EF4-FFF2-40B4-BE49-F238E27FC236}">
                <a16:creationId xmlns:a16="http://schemas.microsoft.com/office/drawing/2014/main" id="{6853E914-BC48-1155-F022-4CB8BC018EAC}"/>
              </a:ext>
            </a:extLst>
          </p:cNvPr>
          <p:cNvSpPr>
            <a:spLocks noGrp="1"/>
          </p:cNvSpPr>
          <p:nvPr>
            <p:ph idx="1"/>
          </p:nvPr>
        </p:nvSpPr>
        <p:spPr/>
        <p:txBody>
          <a:bodyPr>
            <a:normAutofit/>
          </a:bodyPr>
          <a:lstStyle/>
          <a:p>
            <a:pPr algn="just"/>
            <a:r>
              <a:rPr lang="vi-VN" sz="2400" dirty="0">
                <a:latin typeface="Aptos Display (Headings)"/>
              </a:rPr>
              <a:t>Tất cả các đầu dò sẽ được thiết kế để có thể lấy dữ liệu từ cùng một khu vực cơ bắp một cách nhanh chóng. </a:t>
            </a:r>
          </a:p>
          <a:p>
            <a:pPr algn="just"/>
            <a:r>
              <a:rPr lang="vi-VN" sz="2400" dirty="0">
                <a:latin typeface="Aptos Display (Headings)"/>
              </a:rPr>
              <a:t>Dữ liệu thô được truyền về một Bộ xử lý trung tâm MCU, nơi các thuật toán lọc nhiễu, chuẩn hóa và tổng hợp sẽ tạo ra một Chỉ số Sức khỏe Cơ bắp Tổng thể (Overall Muscle Health Index). </a:t>
            </a:r>
            <a:endParaRPr lang="en-US" sz="1800" dirty="0">
              <a:latin typeface="Aptos Display (Headings)"/>
            </a:endParaRPr>
          </a:p>
        </p:txBody>
      </p:sp>
      <p:sp>
        <p:nvSpPr>
          <p:cNvPr id="4" name="Date Placeholder 3">
            <a:extLst>
              <a:ext uri="{FF2B5EF4-FFF2-40B4-BE49-F238E27FC236}">
                <a16:creationId xmlns:a16="http://schemas.microsoft.com/office/drawing/2014/main" id="{C0A565C0-5ED7-E11F-BC49-F9835EF550A3}"/>
              </a:ext>
            </a:extLst>
          </p:cNvPr>
          <p:cNvSpPr>
            <a:spLocks noGrp="1"/>
          </p:cNvSpPr>
          <p:nvPr>
            <p:ph type="dt" sz="half" idx="10"/>
          </p:nvPr>
        </p:nvSpPr>
        <p:spPr/>
        <p:txBody>
          <a:bodyPr/>
          <a:lstStyle/>
          <a:p>
            <a:fld id="{DFDA44C5-FF49-4031-A1FF-6DFDFE7830D3}" type="datetime1">
              <a:rPr lang="vi-VN" smtClean="0"/>
              <a:t>30/10/2025</a:t>
            </a:fld>
            <a:endParaRPr lang="en-US"/>
          </a:p>
        </p:txBody>
      </p:sp>
      <p:sp>
        <p:nvSpPr>
          <p:cNvPr id="5" name="Slide Number Placeholder 4">
            <a:extLst>
              <a:ext uri="{FF2B5EF4-FFF2-40B4-BE49-F238E27FC236}">
                <a16:creationId xmlns:a16="http://schemas.microsoft.com/office/drawing/2014/main" id="{8D50E443-51A3-87B0-3CF5-1C038D13881D}"/>
              </a:ext>
            </a:extLst>
          </p:cNvPr>
          <p:cNvSpPr>
            <a:spLocks noGrp="1"/>
          </p:cNvSpPr>
          <p:nvPr>
            <p:ph type="sldNum" sz="quarter" idx="12"/>
          </p:nvPr>
        </p:nvSpPr>
        <p:spPr/>
        <p:txBody>
          <a:bodyPr/>
          <a:lstStyle/>
          <a:p>
            <a:fld id="{18465823-24DD-4389-90AD-EB96B0370D37}" type="slidenum">
              <a:rPr lang="en-US" smtClean="0"/>
              <a:t>9</a:t>
            </a:fld>
            <a:endParaRPr lang="en-US"/>
          </a:p>
        </p:txBody>
      </p:sp>
    </p:spTree>
    <p:extLst>
      <p:ext uri="{BB962C8B-B14F-4D97-AF65-F5344CB8AC3E}">
        <p14:creationId xmlns:p14="http://schemas.microsoft.com/office/powerpoint/2010/main" val="309930534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C5839E-7F7D-D8F3-0532-DD868BA6651F}"/>
              </a:ext>
            </a:extLst>
          </p:cNvPr>
          <p:cNvSpPr>
            <a:spLocks noGrp="1"/>
          </p:cNvSpPr>
          <p:nvPr>
            <p:ph type="title"/>
          </p:nvPr>
        </p:nvSpPr>
        <p:spPr/>
        <p:txBody>
          <a:bodyPr/>
          <a:lstStyle/>
          <a:p>
            <a:r>
              <a:rPr lang="vi-VN" dirty="0">
                <a:latin typeface="Aptos Display (Headings)"/>
              </a:rPr>
              <a:t>Ý nghĩa khoa học và ứng dụng</a:t>
            </a:r>
            <a:endParaRPr lang="en-US" dirty="0">
              <a:latin typeface="Aptos Display (Headings)"/>
            </a:endParaRPr>
          </a:p>
        </p:txBody>
      </p:sp>
      <p:sp>
        <p:nvSpPr>
          <p:cNvPr id="3" name="Content Placeholder 2">
            <a:extLst>
              <a:ext uri="{FF2B5EF4-FFF2-40B4-BE49-F238E27FC236}">
                <a16:creationId xmlns:a16="http://schemas.microsoft.com/office/drawing/2014/main" id="{04A36E0B-4A6D-17B5-8D42-9F9A9E736215}"/>
              </a:ext>
            </a:extLst>
          </p:cNvPr>
          <p:cNvSpPr>
            <a:spLocks noGrp="1"/>
          </p:cNvSpPr>
          <p:nvPr>
            <p:ph idx="1"/>
          </p:nvPr>
        </p:nvSpPr>
        <p:spPr/>
        <p:txBody>
          <a:bodyPr>
            <a:normAutofit/>
          </a:bodyPr>
          <a:lstStyle/>
          <a:p>
            <a:r>
              <a:rPr lang="vi-VN" sz="2000" dirty="0">
                <a:latin typeface="Aptos Display (Headings)"/>
              </a:rPr>
              <a:t>Y học Lâm sàng: Cung cấp một công cụ không xâm lấn, di động và chi phí thấp thay thế hoặc bổ sung cho các phương pháp đắt tiền (như MRI, sinh thiết cơ) trong việc sàng lọc và theo dõi. </a:t>
            </a:r>
          </a:p>
          <a:p>
            <a:r>
              <a:rPr lang="vi-VN" sz="2000" dirty="0">
                <a:latin typeface="Aptos Display (Headings)"/>
              </a:rPr>
              <a:t>Độ dày cơ (Siêu âm): Phục vụ theo dõi teo cơ trong bệnh lý thần kinh-cơ</a:t>
            </a:r>
          </a:p>
          <a:p>
            <a:r>
              <a:rPr lang="vi-VN" sz="2000" dirty="0">
                <a:latin typeface="Aptos Display (Headings)"/>
              </a:rPr>
              <a:t>Độ xơ cơ (EIM, NIR): Đánh giá định lượng sự tích tụ mô xơ, dấu hiệu của bệnh cơ mãn tính. </a:t>
            </a:r>
          </a:p>
          <a:p>
            <a:r>
              <a:rPr lang="vi-VN" sz="2000" dirty="0">
                <a:latin typeface="Aptos Display (Headings)"/>
              </a:rPr>
              <a:t>Độ cứng (Indentometer): Cung cấp thông tin về trương lực và tính đàn hồi của cơ, quan trọng trong phục hồi chức năng. </a:t>
            </a:r>
          </a:p>
          <a:p>
            <a:r>
              <a:rPr lang="vi-VN" sz="2000" dirty="0">
                <a:latin typeface="Aptos Display (Headings)"/>
              </a:rPr>
              <a:t>Khoa học Thể thao &amp; Dinh dưỡng: Giúp vận động viên, người cao tuổi theo dõi hiệu quả tập luyện và tình trạng dinh dưỡng cơ bắp. </a:t>
            </a:r>
          </a:p>
          <a:p>
            <a:r>
              <a:rPr lang="vi-VN" sz="2000" dirty="0">
                <a:latin typeface="Aptos Display (Headings)"/>
              </a:rPr>
              <a:t>Tiềm năng phát triển: Nền tảng thiết bị này có thể mở rộng để tích hợp thêm các cảm biến khác (ví dụ: nhiệt độ bề mặt, EMG) và kết nối không dây (IoT) để theo dõi sức khỏe cơ từ xa. </a:t>
            </a:r>
            <a:endParaRPr lang="en-US" sz="2000" dirty="0">
              <a:latin typeface="Aptos Display (Headings)"/>
            </a:endParaRPr>
          </a:p>
        </p:txBody>
      </p:sp>
      <p:sp>
        <p:nvSpPr>
          <p:cNvPr id="4" name="Date Placeholder 3">
            <a:extLst>
              <a:ext uri="{FF2B5EF4-FFF2-40B4-BE49-F238E27FC236}">
                <a16:creationId xmlns:a16="http://schemas.microsoft.com/office/drawing/2014/main" id="{31BADC52-2C73-4436-294C-CC4AD0E7DE8C}"/>
              </a:ext>
            </a:extLst>
          </p:cNvPr>
          <p:cNvSpPr>
            <a:spLocks noGrp="1"/>
          </p:cNvSpPr>
          <p:nvPr>
            <p:ph type="dt" sz="half" idx="10"/>
          </p:nvPr>
        </p:nvSpPr>
        <p:spPr/>
        <p:txBody>
          <a:bodyPr/>
          <a:lstStyle/>
          <a:p>
            <a:fld id="{DFDA44C5-FF49-4031-A1FF-6DFDFE7830D3}" type="datetime1">
              <a:rPr lang="vi-VN" smtClean="0"/>
              <a:t>30/10/2025</a:t>
            </a:fld>
            <a:endParaRPr lang="en-US"/>
          </a:p>
        </p:txBody>
      </p:sp>
      <p:sp>
        <p:nvSpPr>
          <p:cNvPr id="5" name="Slide Number Placeholder 4">
            <a:extLst>
              <a:ext uri="{FF2B5EF4-FFF2-40B4-BE49-F238E27FC236}">
                <a16:creationId xmlns:a16="http://schemas.microsoft.com/office/drawing/2014/main" id="{B0E2AD17-354C-39B8-BFA0-EB9031AC9378}"/>
              </a:ext>
            </a:extLst>
          </p:cNvPr>
          <p:cNvSpPr>
            <a:spLocks noGrp="1"/>
          </p:cNvSpPr>
          <p:nvPr>
            <p:ph type="sldNum" sz="quarter" idx="12"/>
          </p:nvPr>
        </p:nvSpPr>
        <p:spPr/>
        <p:txBody>
          <a:bodyPr/>
          <a:lstStyle/>
          <a:p>
            <a:fld id="{18465823-24DD-4389-90AD-EB96B0370D37}" type="slidenum">
              <a:rPr lang="en-US" smtClean="0"/>
              <a:t>10</a:t>
            </a:fld>
            <a:endParaRPr lang="en-US"/>
          </a:p>
        </p:txBody>
      </p:sp>
    </p:spTree>
    <p:extLst>
      <p:ext uri="{BB962C8B-B14F-4D97-AF65-F5344CB8AC3E}">
        <p14:creationId xmlns:p14="http://schemas.microsoft.com/office/powerpoint/2010/main" val="49445694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9632C1-F591-261B-26D2-0795D793B7F7}"/>
              </a:ext>
            </a:extLst>
          </p:cNvPr>
          <p:cNvSpPr>
            <a:spLocks noGrp="1"/>
          </p:cNvSpPr>
          <p:nvPr>
            <p:ph type="title"/>
          </p:nvPr>
        </p:nvSpPr>
        <p:spPr/>
        <p:txBody>
          <a:bodyPr/>
          <a:lstStyle/>
          <a:p>
            <a:r>
              <a:rPr lang="vi-VN" dirty="0">
                <a:latin typeface="Aptos" panose="020B0004020202020204" pitchFamily="34" charset="0"/>
              </a:rPr>
              <a:t>MoMs</a:t>
            </a:r>
            <a:endParaRPr lang="en-US" dirty="0">
              <a:latin typeface="Aptos" panose="020B0004020202020204" pitchFamily="34" charset="0"/>
            </a:endParaRPr>
          </a:p>
        </p:txBody>
      </p:sp>
      <p:sp>
        <p:nvSpPr>
          <p:cNvPr id="3" name="Content Placeholder 2">
            <a:extLst>
              <a:ext uri="{FF2B5EF4-FFF2-40B4-BE49-F238E27FC236}">
                <a16:creationId xmlns:a16="http://schemas.microsoft.com/office/drawing/2014/main" id="{51C22A85-D212-CE8A-9647-23A69083589E}"/>
              </a:ext>
            </a:extLst>
          </p:cNvPr>
          <p:cNvSpPr>
            <a:spLocks noGrp="1"/>
          </p:cNvSpPr>
          <p:nvPr>
            <p:ph idx="1"/>
          </p:nvPr>
        </p:nvSpPr>
        <p:spPr/>
        <p:txBody>
          <a:bodyPr/>
          <a:lstStyle/>
          <a:p>
            <a:endParaRPr lang="en-US"/>
          </a:p>
        </p:txBody>
      </p:sp>
      <p:sp>
        <p:nvSpPr>
          <p:cNvPr id="4" name="Date Placeholder 3">
            <a:extLst>
              <a:ext uri="{FF2B5EF4-FFF2-40B4-BE49-F238E27FC236}">
                <a16:creationId xmlns:a16="http://schemas.microsoft.com/office/drawing/2014/main" id="{6010BE7E-C480-B2E6-524B-2794DEAD3141}"/>
              </a:ext>
            </a:extLst>
          </p:cNvPr>
          <p:cNvSpPr>
            <a:spLocks noGrp="1"/>
          </p:cNvSpPr>
          <p:nvPr>
            <p:ph type="dt" sz="half" idx="10"/>
          </p:nvPr>
        </p:nvSpPr>
        <p:spPr/>
        <p:txBody>
          <a:bodyPr/>
          <a:lstStyle/>
          <a:p>
            <a:fld id="{DFDA44C5-FF49-4031-A1FF-6DFDFE7830D3}" type="datetime1">
              <a:rPr lang="vi-VN" smtClean="0"/>
              <a:t>30/10/2025</a:t>
            </a:fld>
            <a:endParaRPr lang="en-US"/>
          </a:p>
        </p:txBody>
      </p:sp>
      <p:sp>
        <p:nvSpPr>
          <p:cNvPr id="5" name="Slide Number Placeholder 4">
            <a:extLst>
              <a:ext uri="{FF2B5EF4-FFF2-40B4-BE49-F238E27FC236}">
                <a16:creationId xmlns:a16="http://schemas.microsoft.com/office/drawing/2014/main" id="{5DD27078-3814-20C7-99B8-E2EA5D33FA7F}"/>
              </a:ext>
            </a:extLst>
          </p:cNvPr>
          <p:cNvSpPr>
            <a:spLocks noGrp="1"/>
          </p:cNvSpPr>
          <p:nvPr>
            <p:ph type="sldNum" sz="quarter" idx="12"/>
          </p:nvPr>
        </p:nvSpPr>
        <p:spPr/>
        <p:txBody>
          <a:bodyPr/>
          <a:lstStyle/>
          <a:p>
            <a:fld id="{18465823-24DD-4389-90AD-EB96B0370D37}" type="slidenum">
              <a:rPr lang="en-US" smtClean="0"/>
              <a:t>11</a:t>
            </a:fld>
            <a:endParaRPr lang="en-US"/>
          </a:p>
        </p:txBody>
      </p:sp>
    </p:spTree>
    <p:extLst>
      <p:ext uri="{BB962C8B-B14F-4D97-AF65-F5344CB8AC3E}">
        <p14:creationId xmlns:p14="http://schemas.microsoft.com/office/powerpoint/2010/main" val="10307348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147</TotalTime>
  <Words>1126</Words>
  <Application>Microsoft Office PowerPoint</Application>
  <PresentationFormat>Widescreen</PresentationFormat>
  <Paragraphs>84</Paragraphs>
  <Slides>11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11</vt:i4>
      </vt:variant>
    </vt:vector>
  </HeadingPairs>
  <TitlesOfParts>
    <vt:vector size="16" baseType="lpstr">
      <vt:lpstr>Aptos</vt:lpstr>
      <vt:lpstr>Aptos Display</vt:lpstr>
      <vt:lpstr>Aptos Display (Headings)</vt:lpstr>
      <vt:lpstr>Arial</vt:lpstr>
      <vt:lpstr>Office Theme</vt:lpstr>
      <vt:lpstr>THIẾT KẾ VÀ CHẾ TẠO THIẾT BỊ ĐÁNH GIÁ CƠ BẮP ĐA / THÔNG SỐ ĐỂ PHÁT HIỆN SỚM BỆNH LÝ THẦN KINH - CƠ</vt:lpstr>
      <vt:lpstr>Agenda</vt:lpstr>
      <vt:lpstr>Giới thiệu chung</vt:lpstr>
      <vt:lpstr>Mục tiêu và phạm vi đề tài</vt:lpstr>
      <vt:lpstr>Cơ sở kỹ thuật</vt:lpstr>
      <vt:lpstr>Cơ sở kỹ thuật</vt:lpstr>
      <vt:lpstr>Cơ sở kỹ thuật</vt:lpstr>
      <vt:lpstr>Cơ sở kỹ thuật</vt:lpstr>
      <vt:lpstr>Cơ sở kỹ thuật</vt:lpstr>
      <vt:lpstr>Ý nghĩa khoa học và ứng dụng</vt:lpstr>
      <vt:lpstr>MoMs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Vo Tan Minh Khoi (MS/EAI12-VM);24C41002@student.hcmus.edu.vn</dc:creator>
  <cp:lastModifiedBy>Minh Khôi Võ Tấn</cp:lastModifiedBy>
  <cp:revision>1</cp:revision>
  <dcterms:created xsi:type="dcterms:W3CDTF">2025-10-30T03:42:52Z</dcterms:created>
  <dcterms:modified xsi:type="dcterms:W3CDTF">2025-10-30T07:17:11Z</dcterms:modified>
</cp:coreProperties>
</file>